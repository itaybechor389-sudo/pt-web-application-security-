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b7dd6030ac42a1" /><Relationship Type="http://schemas.openxmlformats.org/officeDocument/2006/relationships/extended-properties" Target="/docProps/app.xml" Id="R5f297e77696b4f97" /><Relationship Type="http://schemas.openxmlformats.org/officeDocument/2006/relationships/officeDocument" Target="/ppt/presentation.xml" Id="R0f6185c5f0ec47de" /></Relationships>
</file>

<file path=ppt/presentation.xml><?xml version="1.0" encoding="utf-8"?>
<p:presentation xmlns:p="http://schemas.openxmlformats.org/presentationml/2006/main">
  <p:sldMasterIdLst>
    <p:sldMasterId xmlns:r="http://schemas.openxmlformats.org/officeDocument/2006/relationships" id="2147483648" r:id="R299d7a883b0b4f9e"/>
  </p:sldMasterIdLst>
  <p:notesMasterIdLst>
    <p:notesMasterId xmlns:r="http://schemas.openxmlformats.org/officeDocument/2006/relationships" r:id="R0ca8d9ff187d4717"/>
  </p:notesMasterIdLst>
  <p:sldIdLst>
    <p:sldId xmlns:r="http://schemas.openxmlformats.org/officeDocument/2006/relationships" id="256" r:id="Re49e1903f2264ba5"/>
    <p:sldId xmlns:r="http://schemas.openxmlformats.org/officeDocument/2006/relationships" id="257" r:id="R107b7e37e09c4489"/>
    <p:sldId xmlns:r="http://schemas.openxmlformats.org/officeDocument/2006/relationships" id="258" r:id="Rfef5b82e201340b7"/>
    <p:sldId xmlns:r="http://schemas.openxmlformats.org/officeDocument/2006/relationships" id="259" r:id="R90036ed0eeed4bdb"/>
    <p:sldId xmlns:r="http://schemas.openxmlformats.org/officeDocument/2006/relationships" id="260" r:id="R9c9b5304691f4090"/>
    <p:sldId xmlns:r="http://schemas.openxmlformats.org/officeDocument/2006/relationships" id="261" r:id="R6efa82c1875f4f46"/>
    <p:sldId xmlns:r="http://schemas.openxmlformats.org/officeDocument/2006/relationships" id="262" r:id="Ra3e85a8d340e4c3a"/>
    <p:sldId xmlns:r="http://schemas.openxmlformats.org/officeDocument/2006/relationships" id="263" r:id="Re87ccd7bc9844748"/>
    <p:sldId xmlns:r="http://schemas.openxmlformats.org/officeDocument/2006/relationships" id="264" r:id="Ra24661e8cb96497a"/>
    <p:sldId xmlns:r="http://schemas.openxmlformats.org/officeDocument/2006/relationships" id="265" r:id="R99169717a01a4b73"/>
    <p:sldId xmlns:r="http://schemas.openxmlformats.org/officeDocument/2006/relationships" id="266" r:id="R3729328af36f4b9a"/>
    <p:sldId xmlns:r="http://schemas.openxmlformats.org/officeDocument/2006/relationships" id="267" r:id="R0fe1d15f400a4aec"/>
    <p:sldId xmlns:r="http://schemas.openxmlformats.org/officeDocument/2006/relationships" id="268" r:id="R8ee7231588d342cd"/>
    <p:sldId xmlns:r="http://schemas.openxmlformats.org/officeDocument/2006/relationships" id="269" r:id="R28c4a93208e74590"/>
    <p:sldId xmlns:r="http://schemas.openxmlformats.org/officeDocument/2006/relationships" id="270" r:id="R8c1c1708ee744634"/>
    <p:sldId xmlns:r="http://schemas.openxmlformats.org/officeDocument/2006/relationships" id="271" r:id="R687bfd1d1488414b"/>
    <p:sldId xmlns:r="http://schemas.openxmlformats.org/officeDocument/2006/relationships" id="272" r:id="R749183309f084ea0"/>
    <p:sldId xmlns:r="http://schemas.openxmlformats.org/officeDocument/2006/relationships" id="273" r:id="R7c17db0d2d5c49d4"/>
    <p:sldId xmlns:r="http://schemas.openxmlformats.org/officeDocument/2006/relationships" id="274" r:id="Rb852aa535a3b4cdc"/>
    <p:sldId xmlns:r="http://schemas.openxmlformats.org/officeDocument/2006/relationships" id="275" r:id="Re4376d3b832b4136"/>
    <p:sldId xmlns:r="http://schemas.openxmlformats.org/officeDocument/2006/relationships" id="276" r:id="R4be4104a25924bbd"/>
    <p:sldId xmlns:r="http://schemas.openxmlformats.org/officeDocument/2006/relationships" id="277" r:id="Ref81a9a75c314813"/>
    <p:sldId xmlns:r="http://schemas.openxmlformats.org/officeDocument/2006/relationships" id="278" r:id="Rc6436fd57e02462a"/>
    <p:sldId xmlns:r="http://schemas.openxmlformats.org/officeDocument/2006/relationships" id="279" r:id="R78a6a7f81f3542cd"/>
    <p:sldId xmlns:r="http://schemas.openxmlformats.org/officeDocument/2006/relationships" id="280" r:id="R8912d3353dcd4a2c"/>
    <p:sldId xmlns:r="http://schemas.openxmlformats.org/officeDocument/2006/relationships" id="281" r:id="R23d5902128cf4d11"/>
    <p:sldId xmlns:r="http://schemas.openxmlformats.org/officeDocument/2006/relationships" id="282" r:id="Rac0718aa777c4b6b"/>
    <p:sldId xmlns:r="http://schemas.openxmlformats.org/officeDocument/2006/relationships" id="283" r:id="R48fac2cf3d874bed"/>
    <p:sldId xmlns:r="http://schemas.openxmlformats.org/officeDocument/2006/relationships" id="284" r:id="R68e0b5a7e3114b92"/>
    <p:sldId xmlns:r="http://schemas.openxmlformats.org/officeDocument/2006/relationships" id="285" r:id="R840f8d163c0147f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fac5227f9e4710" /><Relationship Type="http://schemas.openxmlformats.org/officeDocument/2006/relationships/slideMaster" Target="/ppt/slideMasters/slideMaster1.xml" Id="R299d7a883b0b4f9e" /><Relationship Type="http://schemas.openxmlformats.org/officeDocument/2006/relationships/notesMaster" Target="/ppt/notesMasters/notesMaster1.xml" Id="R0ca8d9ff187d4717" /><Relationship Type="http://schemas.openxmlformats.org/officeDocument/2006/relationships/presProps" Target="/ppt/presProps.xml" Id="R5a6a9599cc584232" /><Relationship Type="http://schemas.openxmlformats.org/officeDocument/2006/relationships/tableStyles" Target="/ppt/tableStyles.xml" Id="R1b299b28bbe64a33" /><Relationship Type="http://schemas.openxmlformats.org/officeDocument/2006/relationships/slide" Target="/ppt/slides/slide1.xml" Id="Re49e1903f2264ba5" /><Relationship Type="http://schemas.openxmlformats.org/officeDocument/2006/relationships/slide" Target="/ppt/slides/slide2.xml" Id="R107b7e37e09c4489" /><Relationship Type="http://schemas.openxmlformats.org/officeDocument/2006/relationships/slide" Target="/ppt/slides/slide3.xml" Id="Rfef5b82e201340b7" /><Relationship Type="http://schemas.openxmlformats.org/officeDocument/2006/relationships/slide" Target="/ppt/slides/slide4.xml" Id="R90036ed0eeed4bdb" /><Relationship Type="http://schemas.openxmlformats.org/officeDocument/2006/relationships/slide" Target="/ppt/slides/slide5.xml" Id="R9c9b5304691f4090" /><Relationship Type="http://schemas.openxmlformats.org/officeDocument/2006/relationships/slide" Target="/ppt/slides/slide6.xml" Id="R6efa82c1875f4f46" /><Relationship Type="http://schemas.openxmlformats.org/officeDocument/2006/relationships/slide" Target="/ppt/slides/slide7.xml" Id="Ra3e85a8d340e4c3a" /><Relationship Type="http://schemas.openxmlformats.org/officeDocument/2006/relationships/slide" Target="/ppt/slides/slide8.xml" Id="Re87ccd7bc9844748" /><Relationship Type="http://schemas.openxmlformats.org/officeDocument/2006/relationships/slide" Target="/ppt/slides/slide9.xml" Id="Ra24661e8cb96497a" /><Relationship Type="http://schemas.openxmlformats.org/officeDocument/2006/relationships/slide" Target="/ppt/slides/slide10.xml" Id="R99169717a01a4b73" /><Relationship Type="http://schemas.openxmlformats.org/officeDocument/2006/relationships/slide" Target="/ppt/slides/slide11.xml" Id="R3729328af36f4b9a" /><Relationship Type="http://schemas.openxmlformats.org/officeDocument/2006/relationships/slide" Target="/ppt/slides/slide12.xml" Id="R0fe1d15f400a4aec" /><Relationship Type="http://schemas.openxmlformats.org/officeDocument/2006/relationships/slide" Target="/ppt/slides/slide13.xml" Id="R8ee7231588d342cd" /><Relationship Type="http://schemas.openxmlformats.org/officeDocument/2006/relationships/slide" Target="/ppt/slides/slide14.xml" Id="R28c4a93208e74590" /><Relationship Type="http://schemas.openxmlformats.org/officeDocument/2006/relationships/slide" Target="/ppt/slides/slide15.xml" Id="R8c1c1708ee744634" /><Relationship Type="http://schemas.openxmlformats.org/officeDocument/2006/relationships/slide" Target="/ppt/slides/slide16.xml" Id="R687bfd1d1488414b" /><Relationship Type="http://schemas.openxmlformats.org/officeDocument/2006/relationships/slide" Target="/ppt/slides/slide17.xml" Id="R749183309f084ea0" /><Relationship Type="http://schemas.openxmlformats.org/officeDocument/2006/relationships/slide" Target="/ppt/slides/slide18.xml" Id="R7c17db0d2d5c49d4" /><Relationship Type="http://schemas.openxmlformats.org/officeDocument/2006/relationships/slide" Target="/ppt/slides/slide19.xml" Id="Rb852aa535a3b4cdc" /><Relationship Type="http://schemas.openxmlformats.org/officeDocument/2006/relationships/slide" Target="/ppt/slides/slide20.xml" Id="Re4376d3b832b4136" /><Relationship Type="http://schemas.openxmlformats.org/officeDocument/2006/relationships/slide" Target="/ppt/slides/slide21.xml" Id="R4be4104a25924bbd" /><Relationship Type="http://schemas.openxmlformats.org/officeDocument/2006/relationships/slide" Target="/ppt/slides/slide22.xml" Id="Ref81a9a75c314813" /><Relationship Type="http://schemas.openxmlformats.org/officeDocument/2006/relationships/slide" Target="/ppt/slides/slide23.xml" Id="Rc6436fd57e02462a" /><Relationship Type="http://schemas.openxmlformats.org/officeDocument/2006/relationships/slide" Target="/ppt/slides/slide24.xml" Id="R78a6a7f81f3542cd" /><Relationship Type="http://schemas.openxmlformats.org/officeDocument/2006/relationships/slide" Target="/ppt/slides/slide25.xml" Id="R8912d3353dcd4a2c" /><Relationship Type="http://schemas.openxmlformats.org/officeDocument/2006/relationships/slide" Target="/ppt/slides/slide26.xml" Id="R23d5902128cf4d11" /><Relationship Type="http://schemas.openxmlformats.org/officeDocument/2006/relationships/slide" Target="/ppt/slides/slide27.xml" Id="Rac0718aa777c4b6b" /><Relationship Type="http://schemas.openxmlformats.org/officeDocument/2006/relationships/slide" Target="/ppt/slides/slide28.xml" Id="R48fac2cf3d874bed" /><Relationship Type="http://schemas.openxmlformats.org/officeDocument/2006/relationships/slide" Target="/ppt/slides/slide29.xml" Id="R68e0b5a7e3114b92" /><Relationship Type="http://schemas.openxmlformats.org/officeDocument/2006/relationships/slide" Target="/ppt/slides/slide30.xml" Id="R840f8d163c0147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b169b111e74b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9bf71921564d97" /><Relationship Type="http://schemas.openxmlformats.org/officeDocument/2006/relationships/notesMaster" Target="/ppt/notesMasters/notesMaster1.xml" Id="R983196a28c8b4e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68fd0295cf4225" /><Relationship Type="http://schemas.openxmlformats.org/officeDocument/2006/relationships/notesMaster" Target="/ppt/notesMasters/notesMaster1.xml" Id="Re4c44612cb454e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95e4856577418c" /><Relationship Type="http://schemas.openxmlformats.org/officeDocument/2006/relationships/notesMaster" Target="/ppt/notesMasters/notesMaster1.xml" Id="R3f3133d3ba7a45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5c53b393794fa9" /><Relationship Type="http://schemas.openxmlformats.org/officeDocument/2006/relationships/notesMaster" Target="/ppt/notesMasters/notesMaster1.xml" Id="R9d9d8946c55b40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d4a73a52aa485a" /><Relationship Type="http://schemas.openxmlformats.org/officeDocument/2006/relationships/notesMaster" Target="/ppt/notesMasters/notesMaster1.xml" Id="Raeb085031d3d4a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f736ccaf6d48ac" /><Relationship Type="http://schemas.openxmlformats.org/officeDocument/2006/relationships/notesMaster" Target="/ppt/notesMasters/notesMaster1.xml" Id="R4842b1ad653a41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004f834fd5462b" /><Relationship Type="http://schemas.openxmlformats.org/officeDocument/2006/relationships/notesMaster" Target="/ppt/notesMasters/notesMaster1.xml" Id="R0be587480c3c48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9ece83cd14beb" /><Relationship Type="http://schemas.openxmlformats.org/officeDocument/2006/relationships/notesMaster" Target="/ppt/notesMasters/notesMaster1.xml" Id="Rd87a08ddc9214f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6ffe52dbc74a5b" /><Relationship Type="http://schemas.openxmlformats.org/officeDocument/2006/relationships/notesMaster" Target="/ppt/notesMasters/notesMaster1.xml" Id="R7df586242e854c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015def6faa4b5e" /><Relationship Type="http://schemas.openxmlformats.org/officeDocument/2006/relationships/notesMaster" Target="/ppt/notesMasters/notesMaster1.xml" Id="Rd73fda8f8e044c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484f66dbdb4f7e" /><Relationship Type="http://schemas.openxmlformats.org/officeDocument/2006/relationships/notesMaster" Target="/ppt/notesMasters/notesMaster1.xml" Id="R663b98a40fd842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5d57516f3b47bd" /><Relationship Type="http://schemas.openxmlformats.org/officeDocument/2006/relationships/notesMaster" Target="/ppt/notesMasters/notesMaster1.xml" Id="Raa87359274f04c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2a8a7a010146d1" /><Relationship Type="http://schemas.openxmlformats.org/officeDocument/2006/relationships/notesMaster" Target="/ppt/notesMasters/notesMaster1.xml" Id="R61f576a6e0fb4e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9e6562963c487e" /><Relationship Type="http://schemas.openxmlformats.org/officeDocument/2006/relationships/notesMaster" Target="/ppt/notesMasters/notesMaster1.xml" Id="R13943c609edd41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6187f6b26c448f" /><Relationship Type="http://schemas.openxmlformats.org/officeDocument/2006/relationships/notesMaster" Target="/ppt/notesMasters/notesMaster1.xml" Id="Rd7569714918e41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0e9c4ed05a488b" /><Relationship Type="http://schemas.openxmlformats.org/officeDocument/2006/relationships/notesMaster" Target="/ppt/notesMasters/notesMaster1.xml" Id="Rcba98f60426a41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21148dd5814d10" /><Relationship Type="http://schemas.openxmlformats.org/officeDocument/2006/relationships/notesMaster" Target="/ppt/notesMasters/notesMaster1.xml" Id="Rb413fea106044b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322c11ff4c4d78" /><Relationship Type="http://schemas.openxmlformats.org/officeDocument/2006/relationships/notesMaster" Target="/ppt/notesMasters/notesMaster1.xml" Id="Rd256ad5b849b4f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bbbd00d73e4f8e" /><Relationship Type="http://schemas.openxmlformats.org/officeDocument/2006/relationships/notesMaster" Target="/ppt/notesMasters/notesMaster1.xml" Id="R0b5585f9645544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47a38eb8714140" /><Relationship Type="http://schemas.openxmlformats.org/officeDocument/2006/relationships/notesMaster" Target="/ppt/notesMasters/notesMaster1.xml" Id="R02e6212e5a53475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57887aba9945fa" /><Relationship Type="http://schemas.openxmlformats.org/officeDocument/2006/relationships/notesMaster" Target="/ppt/notesMasters/notesMaster1.xml" Id="Rd2f20223c9bf4f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6a4ee6c9de45b3" /><Relationship Type="http://schemas.openxmlformats.org/officeDocument/2006/relationships/notesMaster" Target="/ppt/notesMasters/notesMaster1.xml" Id="R3c30a1de71be49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0dc8166476482d" /><Relationship Type="http://schemas.openxmlformats.org/officeDocument/2006/relationships/notesMaster" Target="/ppt/notesMasters/notesMaster1.xml" Id="R77e6dffa5a2f4d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8e6d3ceca54f2c" /><Relationship Type="http://schemas.openxmlformats.org/officeDocument/2006/relationships/notesMaster" Target="/ppt/notesMasters/notesMaster1.xml" Id="R14b13b073ba54fc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fc08202bab42f1" /><Relationship Type="http://schemas.openxmlformats.org/officeDocument/2006/relationships/notesMaster" Target="/ppt/notesMasters/notesMaster1.xml" Id="R8ec5284de83a40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84e086675a44bc" /><Relationship Type="http://schemas.openxmlformats.org/officeDocument/2006/relationships/notesMaster" Target="/ppt/notesMasters/notesMaster1.xml" Id="R2b1dfc0cd51441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ce7d3010fa473c" /><Relationship Type="http://schemas.openxmlformats.org/officeDocument/2006/relationships/notesMaster" Target="/ppt/notesMasters/notesMaster1.xml" Id="R12f35d9367414b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1f264b496564a28" /><Relationship Type="http://schemas.openxmlformats.org/officeDocument/2006/relationships/notesMaster" Target="/ppt/notesMasters/notesMaster1.xml" Id="R831d4212405740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b28ba450d2b4d5d" /><Relationship Type="http://schemas.openxmlformats.org/officeDocument/2006/relationships/notesMaster" Target="/ppt/notesMasters/notesMaster1.xml" Id="R353a33e502954d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b33a96fda924d9a" /><Relationship Type="http://schemas.openxmlformats.org/officeDocument/2006/relationships/notesMaster" Target="/ppt/notesMasters/notesMaster1.xml" Id="R04a68739860949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תמונת שער עיצובית. יתר צילומי המסך מתוך תיעוד המעבדה שסופק.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image(20261023-122209).png. פיתחתי מערכת הרשמה וכניסה ב־Python ו־Flask על Kali, עם SQLite. המטרה: ללמוד פיתוח מאובטח ולבדוק בפועל את מנגנוני ההגנה.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image(20261013-163346).png. בדקתי במסד הנתונים שהיישום משתמש ב־scrypt. הסיסמה עצמה אינה נשמרת כטקסט גלוי.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image(20261023-121056).png. הקמתי OPNsense עם ממשקי WAN ו־LAN. מחשב הבדיקה פונה לכתובת ה־WAN, והאתר פועל ברשת הפנימית.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image(20261024-074903).png. הגדרתי הפעלה אוטומטית ליישום ול־Nginx. הבדיקה מציגה שירותים פעילים וכתובת שרת קבועה במעבדה.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image(20261024-075007).png. שמרתי חכירת DHCP לפי כתובת ה־MAC של Kali. כך חוק ההפניה ממשיך להפנות אל אותו שרת.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image(20261023-122738).png. הגבלתי את מקור חוק ה־HTTPS לכתובת מחשב הבדיקה: 192.168.253.138/32. ההרשאה אינה ניתנת לכל הרשת.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image(20261023-122856).png. חוק NAT מפנה את פורט 443 ב־WAN אל 192.168.1.195:443. כלל הסינון המשויך מאפשר את התעבורה שהוגדרה.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image(20261023-123330).png. ממחשב הבדיקה המורשה התקבל TcpTestSucceeded: True. זו ראיה לקישוריות TCP ליעד שנבדק.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image(20261023-123625).png. החלפתי את כתובת מחשב הבדיקה למקור שלא הותר. ניסיון החיבור לפורט 443 נכשל.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image(20261023-123613).png. לוג ה־Firewall מציג תעבורה שנחסמה בזמן הבדיקה. השילוב עם כתובת המקור ותוצאת החיבור מחזק את הראיה לאכיפה.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image(20261023-130705).png. יצרתי חשבון בדיקה והתחברתי אליו. דף ה־Dashboard נפתח לאחר אימות, ושימש נקודת ייחוס לבדיקות ההמשך.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image(20261023-131543).png. שלחתי קלט המכיל תגית script לשדה שם המשתמש. היישום החזיר HTTP 400. התוצאה מתייחסת לקלט המסוים שנבדק.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image(20261023-131554).png. בפלט ה־HTML נראים תווים מקודדים במקום תגית פעילה. בדקתי גם את אופן החזרת הקלט, מעבר לקוד התגובה.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image(20261023-142642).png. חמש בקשות כניסה שגויות החזירו 401. הבקשה השישית החזירה 429. ההגבלה במעבדה פועלת לפי IP ובזיכרון התהליך.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image(20261023-144243).png. בדקתי את המאפיינים Secure, HttpOnly ו־SameSite=Lax. התמונה מציגה רק את מאפייני העוגייה, ללא ערך ה־Session.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image(20261024-062108).png. לאחר Logout ניסיתי לגשת שוב ל־Dashboard עם ה־Session הקודם. השרת החזיר 302 לעמוד הכניסה.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image(20261024-062328).png. מקור HTTPS מורשה הגיע לבדיקת הסיסמה והחזיר 401. מקור זר ובקשה ללא Origin החזירו 403.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image(20261024-062754).png. בקשת Logout ללא token החזירה 403. בדיקה לפני ואחרי הבקשה החזירה 200 ל־Dashboard, כלומר היציאה לא בוצעה.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image(20261024-063614).png. בדקתי אורכים 0, 14, 15, 128 ו־129. ההרשמה קיבלה את גבולות המדיניות 15–128 ודחתה ערכים מחוץ לטווח.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image(20261024-063912).png. סיסמה של 128 תווים התקבלה. שינוי התו האחרון וקיצור ל־127 תווים נדחו, עבור חשבון הבדיקה הזה.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image(20261024-065421).png. Nginx מקבל את חיבור ה־HTTPS ומעביר את הבקשה ל־Gunicorn ב־127.0.0.1:8000. הצילום מתעד את תצורת ה־Reverse proxy.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image(20261024-065604).png. אימתתי תחביר וטענתי את Nginx מחדש. בסריקת Nmap החוזרת נשארו TLS 1.2 עם ECDHE ו־GCM או ChaCha20, וכן TLS 1.3.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image(20261024-065848).png. Nginx מאזין בכתובת השרת על 443. שרת היישום מאזין על 8000 ב־Loopback, ללא האזנה ישירה בממשק הרשת.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image(20261024-073436).png. בדיקה חוזרת לאחר כ־52 דקות החזירה 302 לכניסה. הקוד מגדיר תוקף של 30 דקות, אך לא מדדתי את רגע התפוגה המדויק.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image(20261024-073546).png. נתיבי מסד הנתונים, קובצי Python ונתיבי גיבוי שנבדקו החזירו 404. דף הכניסה החזיר 200 כבדיקת ביקורת.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image(20261024-074247).png. השלמתי יצירה של טבלת sessions באתחול המסד. לאחר התיקון בדקתי תחביר, אתחול ושירות פעיל, ובהמשך כניסה ויציאה.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image(20261024-075626).png. יצרתי חבילת גיבוי לאפליקציה, למסד ולהגדרות השירות. לאחר הגיבוי היישום חזר למצב active.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מקור: image(20261024-080014).png. העברתי חבילה הכוללת ארכיון אתר, הגדרות OPNsense ומידע לשחזור למחשב המארח. תרגיל שחזור מלא עדיין נותר לאימות. חיתוך תצוגה בלבד להסרת ממשק לא רלוונטי ופרטים שאינם נחוצים לפרסום.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אין טענה לאבטחה מוחלטת או לבדיקת חדירה מקיפה לכל המערכת. תעודת HTTPS עצמית. בדיקות curl עם -k אינן מאמתות אמון בתעודה.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9e38bbf2104f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fd32dbaac343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7b5f54a5ff4f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77b472977e4a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94ad6506f746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d4bda870e242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366E4-253C-4965-BA96-C2B080550C0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4414C0-548D-4A26-90D9-DBEBE0C8D000}"/>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6EBDA9-392D-4099-BCB9-DF20973D8FB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9C66B5-8381-44CE-A1F6-91F697C3AF7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C64349-5FB1-40F2-8086-916E68DAF34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67297B-A333-46BF-ADA6-56215C09542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C7CECB-7CBA-439A-9A4E-2AAE2F33D39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19BB8A-E4A2-49CE-865D-E651CE66751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6C1C56-7D28-4369-A187-9F491A83455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25A293-6953-40F2-BA59-59675D24A2F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6999af1f7a44f9" /><Relationship Type="http://schemas.openxmlformats.org/officeDocument/2006/relationships/slideLayout" Target="/ppt/slideLayouts/slideLayout1.xml" Id="Rba29daeb8d9f49b6" /><Relationship Type="http://schemas.openxmlformats.org/officeDocument/2006/relationships/slideLayout" Target="/ppt/slideLayouts/slideLayout2.xml" Id="R1b7ea0ce7a254f0c" /><Relationship Type="http://schemas.openxmlformats.org/officeDocument/2006/relationships/slideLayout" Target="/ppt/slideLayouts/slideLayout3.xml" Id="Re14c3c99cfa346f1" /><Relationship Type="http://schemas.openxmlformats.org/officeDocument/2006/relationships/slideLayout" Target="/ppt/slideLayouts/slideLayout4.xml" Id="R4e49bfa1aabd4d15" /><Relationship Type="http://schemas.openxmlformats.org/officeDocument/2006/relationships/slideLayout" Target="/ppt/slideLayouts/slideLayout5.xml" Id="R90bee398b7ab4f4d" /><Relationship Type="http://schemas.openxmlformats.org/officeDocument/2006/relationships/slideLayout" Target="/ppt/slideLayouts/slideLayout6.xml" Id="R4ad09f8786574a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29daeb8d9f49b6"/>
    <p:sldLayoutId xmlns:r="http://schemas.openxmlformats.org/officeDocument/2006/relationships" id="2147483650" r:id="R1b7ea0ce7a254f0c"/>
    <p:sldLayoutId xmlns:r="http://schemas.openxmlformats.org/officeDocument/2006/relationships" id="2147483651" r:id="Re14c3c99cfa346f1"/>
    <p:sldLayoutId xmlns:r="http://schemas.openxmlformats.org/officeDocument/2006/relationships" id="2147483652" r:id="R4e49bfa1aabd4d15"/>
    <p:sldLayoutId xmlns:r="http://schemas.openxmlformats.org/officeDocument/2006/relationships" id="2147483653" r:id="R90bee398b7ab4f4d"/>
    <p:sldLayoutId xmlns:r="http://schemas.openxmlformats.org/officeDocument/2006/relationships" id="2147483654" r:id="R4ad09f8786574a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230bd244f849b0" /><Relationship Type="http://schemas.openxmlformats.org/officeDocument/2006/relationships/image" Target="/ppt/media/image.png" Id="R61af1220d62d49cf" /><Relationship Type="http://schemas.openxmlformats.org/officeDocument/2006/relationships/image" Target="/ppt/media/image2.png" Id="Rc03ca38ea5af4991" /><Relationship Type="http://schemas.openxmlformats.org/officeDocument/2006/relationships/notesSlide" Target="/ppt/notesSlides/notesSlide1.xml" Id="R9ff5161d762645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b5a25446fd44f1" /><Relationship Type="http://schemas.openxmlformats.org/officeDocument/2006/relationships/image" Target="/ppt/media/image3.png" Id="R23f8a95376474efd" /><Relationship Type="http://schemas.openxmlformats.org/officeDocument/2006/relationships/notesSlide" Target="/ppt/notesSlides/notesSlide2.xml" Id="R209a10ec9ca44b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5c678d2b7d4b2e" /><Relationship Type="http://schemas.openxmlformats.org/officeDocument/2006/relationships/image" Target="/ppt/media/image4.png" Id="R5485ebbfe39245eb" /><Relationship Type="http://schemas.openxmlformats.org/officeDocument/2006/relationships/notesSlide" Target="/ppt/notesSlides/notesSlide3.xml" Id="R7cb6be1580bb41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3432d748114228" /><Relationship Type="http://schemas.openxmlformats.org/officeDocument/2006/relationships/image" Target="/ppt/media/image5.png" Id="Rb6fb9a753d284270" /><Relationship Type="http://schemas.openxmlformats.org/officeDocument/2006/relationships/notesSlide" Target="/ppt/notesSlides/notesSlide4.xml" Id="R3e04f3a28d6147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869b4c251844de" /><Relationship Type="http://schemas.openxmlformats.org/officeDocument/2006/relationships/image" Target="/ppt/media/image6.png" Id="R573f38d04ef84f75" /><Relationship Type="http://schemas.openxmlformats.org/officeDocument/2006/relationships/notesSlide" Target="/ppt/notesSlides/notesSlide5.xml" Id="R09ae4926228a4a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47afe275bf4f82" /><Relationship Type="http://schemas.openxmlformats.org/officeDocument/2006/relationships/image" Target="/ppt/media/image7.png" Id="R8125d4c68d9f4d70" /><Relationship Type="http://schemas.openxmlformats.org/officeDocument/2006/relationships/notesSlide" Target="/ppt/notesSlides/notesSlide6.xml" Id="R73889044d9df43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ae6f1659d64dcc" /><Relationship Type="http://schemas.openxmlformats.org/officeDocument/2006/relationships/image" Target="/ppt/media/image8.png" Id="Rb78003a1add744f8" /><Relationship Type="http://schemas.openxmlformats.org/officeDocument/2006/relationships/notesSlide" Target="/ppt/notesSlides/notesSlide7.xml" Id="R9f11f488deae47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9323c587004e91" /><Relationship Type="http://schemas.openxmlformats.org/officeDocument/2006/relationships/image" Target="/ppt/media/image9.png" Id="Re0fe858160d644e2" /><Relationship Type="http://schemas.openxmlformats.org/officeDocument/2006/relationships/notesSlide" Target="/ppt/notesSlides/notesSlide8.xml" Id="R766dc1f6b4e14c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e9e9ad1eb949a1" /><Relationship Type="http://schemas.openxmlformats.org/officeDocument/2006/relationships/image" Target="/ppt/media/image10.png" Id="R941093b98482422f" /><Relationship Type="http://schemas.openxmlformats.org/officeDocument/2006/relationships/notesSlide" Target="/ppt/notesSlides/notesSlide9.xml" Id="R6f5fbf736f8846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af0c6fb21f84bae" /><Relationship Type="http://schemas.openxmlformats.org/officeDocument/2006/relationships/image" Target="/ppt/media/image11.png" Id="Rd17dfb22d2c5454d" /><Relationship Type="http://schemas.openxmlformats.org/officeDocument/2006/relationships/notesSlide" Target="/ppt/notesSlides/notesSlide10.xml" Id="R5723149134bd42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e266f3760084e66" /><Relationship Type="http://schemas.openxmlformats.org/officeDocument/2006/relationships/image" Target="/ppt/media/image12.png" Id="Rf3f9900df89a4b99" /><Relationship Type="http://schemas.openxmlformats.org/officeDocument/2006/relationships/notesSlide" Target="/ppt/notesSlides/notesSlide11.xml" Id="R49931668b9a247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290212991a472e" /><Relationship Type="http://schemas.openxmlformats.org/officeDocument/2006/relationships/image" Target="/ppt/media/image13.png" Id="Rd2c58e614e444e98" /><Relationship Type="http://schemas.openxmlformats.org/officeDocument/2006/relationships/notesSlide" Target="/ppt/notesSlides/notesSlide12.xml" Id="R2a589e6a5aca4e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27a44d22024f72" /><Relationship Type="http://schemas.openxmlformats.org/officeDocument/2006/relationships/image" Target="/ppt/media/image14.png" Id="Rf5f6fbe8f813431e" /><Relationship Type="http://schemas.openxmlformats.org/officeDocument/2006/relationships/notesSlide" Target="/ppt/notesSlides/notesSlide13.xml" Id="R199b77363b5f4d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cd6ea8aa2a4c88" /><Relationship Type="http://schemas.openxmlformats.org/officeDocument/2006/relationships/image" Target="/ppt/media/image15.png" Id="R5800d363fd1a4be8" /><Relationship Type="http://schemas.openxmlformats.org/officeDocument/2006/relationships/notesSlide" Target="/ppt/notesSlides/notesSlide14.xml" Id="R7f7bd5d5006944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0c52684a414d7a" /><Relationship Type="http://schemas.openxmlformats.org/officeDocument/2006/relationships/image" Target="/ppt/media/image16.png" Id="Rb7e66af12e3e42be" /><Relationship Type="http://schemas.openxmlformats.org/officeDocument/2006/relationships/notesSlide" Target="/ppt/notesSlides/notesSlide15.xml" Id="Rac2fbf494b6d4a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b7706b7e7c4fe5" /><Relationship Type="http://schemas.openxmlformats.org/officeDocument/2006/relationships/image" Target="/ppt/media/image17.png" Id="R9f97f53bc3bb4ffb" /><Relationship Type="http://schemas.openxmlformats.org/officeDocument/2006/relationships/notesSlide" Target="/ppt/notesSlides/notesSlide16.xml" Id="R4a6d09b557564e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27344c6658e4336" /><Relationship Type="http://schemas.openxmlformats.org/officeDocument/2006/relationships/image" Target="/ppt/media/image18.png" Id="R20eed6cf8d87424e" /><Relationship Type="http://schemas.openxmlformats.org/officeDocument/2006/relationships/notesSlide" Target="/ppt/notesSlides/notesSlide17.xml" Id="Re2afe94c19704d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ad345b41194126" /><Relationship Type="http://schemas.openxmlformats.org/officeDocument/2006/relationships/image" Target="/ppt/media/image19.png" Id="Rb33d7512143c4813" /><Relationship Type="http://schemas.openxmlformats.org/officeDocument/2006/relationships/notesSlide" Target="/ppt/notesSlides/notesSlide18.xml" Id="R36e3fbb91c93498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ea6ad30ec9d4b33" /><Relationship Type="http://schemas.openxmlformats.org/officeDocument/2006/relationships/image" Target="/ppt/media/image20.png" Id="Rcb63de7330f24f60" /><Relationship Type="http://schemas.openxmlformats.org/officeDocument/2006/relationships/notesSlide" Target="/ppt/notesSlides/notesSlide19.xml" Id="R79689ea830414f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c2912dffb3940ef" /><Relationship Type="http://schemas.openxmlformats.org/officeDocument/2006/relationships/image" Target="/ppt/media/image21.png" Id="R90729427b4544d9c" /><Relationship Type="http://schemas.openxmlformats.org/officeDocument/2006/relationships/notesSlide" Target="/ppt/notesSlides/notesSlide20.xml" Id="Ra19a06b93cd346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a79b7c317f44101" /><Relationship Type="http://schemas.openxmlformats.org/officeDocument/2006/relationships/image" Target="/ppt/media/image22.png" Id="R78916269b73842ca" /><Relationship Type="http://schemas.openxmlformats.org/officeDocument/2006/relationships/notesSlide" Target="/ppt/notesSlides/notesSlide21.xml" Id="R5a72241b19e740f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11e0bbaa74643b1" /><Relationship Type="http://schemas.openxmlformats.org/officeDocument/2006/relationships/image" Target="/ppt/media/image23.png" Id="R7c4fc607ed0448e7" /><Relationship Type="http://schemas.openxmlformats.org/officeDocument/2006/relationships/notesSlide" Target="/ppt/notesSlides/notesSlide22.xml" Id="R32a03edf9d3748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43f2aed28304e0d" /><Relationship Type="http://schemas.openxmlformats.org/officeDocument/2006/relationships/image" Target="/ppt/media/image24.png" Id="R8e79c0e14a6b4819" /><Relationship Type="http://schemas.openxmlformats.org/officeDocument/2006/relationships/notesSlide" Target="/ppt/notesSlides/notesSlide23.xml" Id="Rc6204d21b02f464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14fbfba66684b0e" /><Relationship Type="http://schemas.openxmlformats.org/officeDocument/2006/relationships/image" Target="/ppt/media/image25.png" Id="Rc9c5a8cca9ae49e5" /><Relationship Type="http://schemas.openxmlformats.org/officeDocument/2006/relationships/notesSlide" Target="/ppt/notesSlides/notesSlide24.xml" Id="R8f7187f519454ff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8b05f8e31a84d9d" /><Relationship Type="http://schemas.openxmlformats.org/officeDocument/2006/relationships/image" Target="/ppt/media/image26.png" Id="R48d7aeefe7484ed7" /><Relationship Type="http://schemas.openxmlformats.org/officeDocument/2006/relationships/notesSlide" Target="/ppt/notesSlides/notesSlide25.xml" Id="Rda15bb74581943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69778c785cf44fe" /><Relationship Type="http://schemas.openxmlformats.org/officeDocument/2006/relationships/image" Target="/ppt/media/image27.png" Id="R72e2509830f942f9" /><Relationship Type="http://schemas.openxmlformats.org/officeDocument/2006/relationships/notesSlide" Target="/ppt/notesSlides/notesSlide26.xml" Id="R8688dde37f2a4e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2e52b6266a4442b" /><Relationship Type="http://schemas.openxmlformats.org/officeDocument/2006/relationships/image" Target="/ppt/media/image28.png" Id="R4caf2be47d8f487e" /><Relationship Type="http://schemas.openxmlformats.org/officeDocument/2006/relationships/notesSlide" Target="/ppt/notesSlides/notesSlide27.xml" Id="Rf6d30b56b668476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b510b180f214a74" /><Relationship Type="http://schemas.openxmlformats.org/officeDocument/2006/relationships/image" Target="/ppt/media/image29.png" Id="R49629794c3a447b1" /><Relationship Type="http://schemas.openxmlformats.org/officeDocument/2006/relationships/notesSlide" Target="/ppt/notesSlides/notesSlide28.xml" Id="R04339471f9eb429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aa944834aa047bc" /><Relationship Type="http://schemas.openxmlformats.org/officeDocument/2006/relationships/image" Target="/ppt/media/image30.png" Id="R931a779e14cb4008" /><Relationship Type="http://schemas.openxmlformats.org/officeDocument/2006/relationships/notesSlide" Target="/ppt/notesSlides/notesSlide29.xml" Id="R334235401b7e496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a8b5c6eeab44047" /><Relationship Type="http://schemas.openxmlformats.org/officeDocument/2006/relationships/image" Target="/ppt/media/image31.png" Id="R57068c41bb994c11" /><Relationship Type="http://schemas.openxmlformats.org/officeDocument/2006/relationships/notesSlide" Target="/ppt/notesSlides/notesSlide30.xml" Id="R6b6de655a720466b" /></Relationships>
</file>

<file path=ppt/slides/slide1.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DCD499F-7D93-4FA9-9E43-527B2FA625F5}"/>
              </a:ext>
            </a:extLst>
          </p:cNvPr>
          <p:cNvPicPr>
            <a:picLocks xmlns:a="http://schemas.openxmlformats.org/drawingml/2006/main" noChangeAspect="1"/>
          </p:cNvPicPr>
          <p:nvPr/>
        </p:nvPicPr>
        <p:blipFill>
          <a:blip xmlns:r="http://schemas.openxmlformats.org/officeDocument/2006/relationships" xmlns:a="http://schemas.openxmlformats.org/drawingml/2006/main" r:embed="R61af1220d62d49c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97DCA25-3DB1-4E6C-BC43-1165E1827E60}"/>
              </a:ext>
            </a:extLst>
          </p:cNvPr>
          <p:cNvPicPr>
            <a:picLocks xmlns:a="http://schemas.openxmlformats.org/drawingml/2006/main" noChangeAspect="1"/>
          </p:cNvPicPr>
          <p:nvPr/>
        </p:nvPicPr>
        <p:blipFill>
          <a:blip xmlns:r="http://schemas.openxmlformats.org/officeDocument/2006/relationships" xmlns:a="http://schemas.openxmlformats.org/drawingml/2006/main" r:embed="Rc03ca38ea5af4991"/>
          <a:stretch xmlns:a="http://schemas.openxmlformats.org/drawingml/2006/main"/>
        </p:blipFill>
        <p:spPr>
          <a:xfrm xmlns:a="http://schemas.openxmlformats.org/drawingml/2006/main">
            <a:off x="619125" y="3011805"/>
            <a:ext cx="5905500" cy="2834640"/>
          </a:xfrm>
          <a:prstGeom xmlns:a="http://schemas.openxmlformats.org/drawingml/2006/main" prst="rect">
            <a:avLst/>
          </a:prstGeom>
        </p:spPr>
      </p:pic>
      <p:sp>
        <p:nvSpPr>
          <p:cNvPr id="3" name="cover-image-label">
            <a:extLst xmlns:a="http://schemas.openxmlformats.org/drawingml/2006/main">
              <a:ext uri="{FF2B5EF4-FFF2-40B4-BE49-F238E27FC236}">
                <a16:creationId xmlns:a16="http://schemas.microsoft.com/office/drawing/2014/main" id="{D8E4C794-AB97-40FC-92DF-3568B42117DE}"/>
              </a:ext>
            </a:extLst>
          </p:cNvPr>
          <p:cNvSpPr>
            <a:spLocks xmlns:a="http://schemas.openxmlformats.org/drawingml/2006/main" noGrp="1"/>
          </p:cNvSpPr>
          <p:nvPr/>
        </p:nvSpPr>
        <p:spPr>
          <a:xfrm xmlns:a="http://schemas.openxmlformats.org/drawingml/2006/main">
            <a:off x="619125" y="6334125"/>
            <a:ext cx="590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1">
                <a:solidFill>
                  <a:srgbClr val="F5F4EF"/>
                </a:solidFill>
                <a:latin typeface="DejaVu Sans"/>
                <a:ea typeface="DejaVu Sans"/>
                <a:cs typeface="DejaVu Sans"/>
              </a:defRPr>
            </a:defPPr>
            <a:lvl1pPr algn="r">
              <a:defRPr sz="1875" b="1">
                <a:solidFill>
                  <a:srgbClr val="F5F4EF"/>
                </a:solidFill>
                <a:latin typeface="DejaVu Sans"/>
                <a:ea typeface="DejaVu Sans"/>
                <a:cs typeface="DejaVu Sans"/>
              </a:defRPr>
            </a:lvl1pPr>
            <a:lvl2pPr algn="r">
              <a:defRPr sz="1875" b="1">
                <a:solidFill>
                  <a:srgbClr val="F5F4EF"/>
                </a:solidFill>
                <a:latin typeface="DejaVu Sans"/>
                <a:ea typeface="DejaVu Sans"/>
                <a:cs typeface="DejaVu Sans"/>
              </a:defRPr>
            </a:lvl2pPr>
            <a:lvl3pPr algn="r">
              <a:defRPr sz="1875" b="1">
                <a:solidFill>
                  <a:srgbClr val="F5F4EF"/>
                </a:solidFill>
                <a:latin typeface="DejaVu Sans"/>
                <a:ea typeface="DejaVu Sans"/>
                <a:cs typeface="DejaVu Sans"/>
              </a:defRPr>
            </a:lvl3pPr>
            <a:lvl4pPr algn="r">
              <a:defRPr sz="1875" b="1">
                <a:solidFill>
                  <a:srgbClr val="F5F4EF"/>
                </a:solidFill>
                <a:latin typeface="DejaVu Sans"/>
                <a:ea typeface="DejaVu Sans"/>
                <a:cs typeface="DejaVu Sans"/>
              </a:defRPr>
            </a:lvl4pPr>
            <a:lvl5pPr algn="r">
              <a:defRPr sz="1875" b="1">
                <a:solidFill>
                  <a:srgbClr val="F5F4EF"/>
                </a:solidFill>
                <a:latin typeface="DejaVu Sans"/>
                <a:ea typeface="DejaVu Sans"/>
                <a:cs typeface="DejaVu Sans"/>
              </a:defRPr>
            </a:lvl5pPr>
            <a:lvl6pPr algn="r">
              <a:defRPr sz="1875" b="1">
                <a:solidFill>
                  <a:srgbClr val="F5F4EF"/>
                </a:solidFill>
                <a:latin typeface="DejaVu Sans"/>
                <a:ea typeface="DejaVu Sans"/>
                <a:cs typeface="DejaVu Sans"/>
              </a:defRPr>
            </a:lvl6pPr>
            <a:lvl7pPr algn="r">
              <a:defRPr sz="1875" b="1">
                <a:solidFill>
                  <a:srgbClr val="F5F4EF"/>
                </a:solidFill>
                <a:latin typeface="DejaVu Sans"/>
                <a:ea typeface="DejaVu Sans"/>
                <a:cs typeface="DejaVu Sans"/>
              </a:defRPr>
            </a:lvl7pPr>
            <a:lvl8pPr algn="r">
              <a:defRPr sz="1875" b="1">
                <a:solidFill>
                  <a:srgbClr val="F5F4EF"/>
                </a:solidFill>
                <a:latin typeface="DejaVu Sans"/>
                <a:ea typeface="DejaVu Sans"/>
                <a:cs typeface="DejaVu Sans"/>
              </a:defRPr>
            </a:lvl8pPr>
            <a:lvl9pPr algn="r">
              <a:defRPr sz="1875" b="1">
                <a:solidFill>
                  <a:srgbClr val="F5F4EF"/>
                </a:solidFill>
                <a:latin typeface="DejaVu Sans"/>
                <a:ea typeface="DejaVu Sans"/>
                <a:cs typeface="DejaVu Sans"/>
              </a:defRPr>
            </a:lvl9pPr>
          </a:lstStyle>
          <a:p xmlns:a="http://schemas.openxmlformats.org/drawingml/2006/main">
            <a:pPr algn="r" rtl="1">
              <a:defRPr sz="1875" b="1">
                <a:solidFill>
                  <a:srgbClr val="F5F4EF"/>
                </a:solidFill>
                <a:latin typeface="DejaVu Sans"/>
                <a:ea typeface="DejaVu Sans"/>
                <a:cs typeface="DejaVu Sans"/>
              </a:defRPr>
            </a:pPr>
            <a:r>
              <a:rPr sz="1875" b="1" lang="he-IL">
                <a:solidFill>
                  <a:srgbClr val="F5F4EF"/>
                </a:solidFill>
                <a:latin typeface="DejaVu Sans"/>
                <a:ea typeface="DejaVu Sans"/>
                <a:cs typeface="DejaVu Sans"/>
              </a:rPr>
              <a:t>האפליקציה שבניתי במעבדה</a:t>
            </a:r>
          </a:p>
        </p:txBody>
      </p:sp>
      <p:sp>
        <p:nvSpPr>
          <p:cNvPr id="4" name="cover-label">
            <a:extLst xmlns:a="http://schemas.openxmlformats.org/drawingml/2006/main">
              <a:ext uri="{FF2B5EF4-FFF2-40B4-BE49-F238E27FC236}">
                <a16:creationId xmlns:a16="http://schemas.microsoft.com/office/drawing/2014/main" id="{908A5589-A02A-4611-921F-6B73527AFA7A}"/>
              </a:ext>
            </a:extLst>
          </p:cNvPr>
          <p:cNvSpPr>
            <a:spLocks xmlns:a="http://schemas.openxmlformats.org/drawingml/2006/main" noGrp="1"/>
          </p:cNvSpPr>
          <p:nvPr/>
        </p:nvSpPr>
        <p:spPr>
          <a:xfrm xmlns:a="http://schemas.openxmlformats.org/drawingml/2006/main">
            <a:off x="6905625" y="1714500"/>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C3A576"/>
                </a:solidFill>
                <a:latin typeface="DejaVu Sans"/>
                <a:ea typeface="DejaVu Sans"/>
                <a:cs typeface="DejaVu Sans"/>
              </a:defRPr>
            </a:defPPr>
            <a:lvl1pPr algn="r">
              <a:defRPr sz="2025" b="1">
                <a:solidFill>
                  <a:srgbClr val="C3A576"/>
                </a:solidFill>
                <a:latin typeface="DejaVu Sans"/>
                <a:ea typeface="DejaVu Sans"/>
                <a:cs typeface="DejaVu Sans"/>
              </a:defRPr>
            </a:lvl1pPr>
            <a:lvl2pPr algn="r">
              <a:defRPr sz="2025" b="1">
                <a:solidFill>
                  <a:srgbClr val="C3A576"/>
                </a:solidFill>
                <a:latin typeface="DejaVu Sans"/>
                <a:ea typeface="DejaVu Sans"/>
                <a:cs typeface="DejaVu Sans"/>
              </a:defRPr>
            </a:lvl2pPr>
            <a:lvl3pPr algn="r">
              <a:defRPr sz="2025" b="1">
                <a:solidFill>
                  <a:srgbClr val="C3A576"/>
                </a:solidFill>
                <a:latin typeface="DejaVu Sans"/>
                <a:ea typeface="DejaVu Sans"/>
                <a:cs typeface="DejaVu Sans"/>
              </a:defRPr>
            </a:lvl3pPr>
            <a:lvl4pPr algn="r">
              <a:defRPr sz="2025" b="1">
                <a:solidFill>
                  <a:srgbClr val="C3A576"/>
                </a:solidFill>
                <a:latin typeface="DejaVu Sans"/>
                <a:ea typeface="DejaVu Sans"/>
                <a:cs typeface="DejaVu Sans"/>
              </a:defRPr>
            </a:lvl4pPr>
            <a:lvl5pPr algn="r">
              <a:defRPr sz="2025" b="1">
                <a:solidFill>
                  <a:srgbClr val="C3A576"/>
                </a:solidFill>
                <a:latin typeface="DejaVu Sans"/>
                <a:ea typeface="DejaVu Sans"/>
                <a:cs typeface="DejaVu Sans"/>
              </a:defRPr>
            </a:lvl5pPr>
            <a:lvl6pPr algn="r">
              <a:defRPr sz="2025" b="1">
                <a:solidFill>
                  <a:srgbClr val="C3A576"/>
                </a:solidFill>
                <a:latin typeface="DejaVu Sans"/>
                <a:ea typeface="DejaVu Sans"/>
                <a:cs typeface="DejaVu Sans"/>
              </a:defRPr>
            </a:lvl6pPr>
            <a:lvl7pPr algn="r">
              <a:defRPr sz="2025" b="1">
                <a:solidFill>
                  <a:srgbClr val="C3A576"/>
                </a:solidFill>
                <a:latin typeface="DejaVu Sans"/>
                <a:ea typeface="DejaVu Sans"/>
                <a:cs typeface="DejaVu Sans"/>
              </a:defRPr>
            </a:lvl7pPr>
            <a:lvl8pPr algn="r">
              <a:defRPr sz="2025" b="1">
                <a:solidFill>
                  <a:srgbClr val="C3A576"/>
                </a:solidFill>
                <a:latin typeface="DejaVu Sans"/>
                <a:ea typeface="DejaVu Sans"/>
                <a:cs typeface="DejaVu Sans"/>
              </a:defRPr>
            </a:lvl8pPr>
            <a:lvl9pPr algn="r">
              <a:defRPr sz="2025" b="1">
                <a:solidFill>
                  <a:srgbClr val="C3A576"/>
                </a:solidFill>
                <a:latin typeface="DejaVu Sans"/>
                <a:ea typeface="DejaVu Sans"/>
                <a:cs typeface="DejaVu Sans"/>
              </a:defRPr>
            </a:lvl9pPr>
          </a:lstStyle>
          <a:p xmlns:a="http://schemas.openxmlformats.org/drawingml/2006/main">
            <a:pPr algn="r" rtl="1">
              <a:defRPr sz="2025" b="1">
                <a:solidFill>
                  <a:srgbClr val="C3A576"/>
                </a:solidFill>
                <a:latin typeface="DejaVu Sans"/>
                <a:ea typeface="DejaVu Sans"/>
                <a:cs typeface="DejaVu Sans"/>
              </a:defRPr>
            </a:pPr>
            <a:r>
              <a:rPr sz="2025" b="1" lang="he-IL">
                <a:solidFill>
                  <a:srgbClr val="C3A576"/>
                </a:solidFill>
                <a:latin typeface="DejaVu Sans"/>
                <a:ea typeface="DejaVu Sans"/>
                <a:cs typeface="DejaVu Sans"/>
              </a:rPr>
              <a:t>מעבדה אישית באבטחת מידע</a:t>
            </a:r>
          </a:p>
        </p:txBody>
      </p:sp>
      <p:sp>
        <p:nvSpPr>
          <p:cNvPr id="5" name="headline">
            <a:extLst xmlns:a="http://schemas.openxmlformats.org/drawingml/2006/main">
              <a:ext uri="{FF2B5EF4-FFF2-40B4-BE49-F238E27FC236}">
                <a16:creationId xmlns:a16="http://schemas.microsoft.com/office/drawing/2014/main" id="{4A6FB9B4-F161-4339-966F-11CCFBE41250}"/>
              </a:ext>
            </a:extLst>
          </p:cNvPr>
          <p:cNvSpPr>
            <a:spLocks xmlns:a="http://schemas.openxmlformats.org/drawingml/2006/main" noGrp="1"/>
          </p:cNvSpPr>
          <p:nvPr/>
        </p:nvSpPr>
        <p:spPr>
          <a:xfrm xmlns:a="http://schemas.openxmlformats.org/drawingml/2006/main">
            <a:off x="6524625" y="2619375"/>
            <a:ext cx="790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6600" b="1">
                <a:solidFill>
                  <a:srgbClr val="F5F4EF"/>
                </a:solidFill>
                <a:latin typeface="DejaVu Sans"/>
                <a:ea typeface="DejaVu Sans"/>
                <a:cs typeface="DejaVu Sans"/>
              </a:defRPr>
            </a:defPPr>
            <a:lvl1pPr algn="r">
              <a:defRPr sz="6600" b="1">
                <a:solidFill>
                  <a:srgbClr val="F5F4EF"/>
                </a:solidFill>
                <a:latin typeface="DejaVu Sans"/>
                <a:ea typeface="DejaVu Sans"/>
                <a:cs typeface="DejaVu Sans"/>
              </a:defRPr>
            </a:lvl1pPr>
            <a:lvl2pPr algn="r">
              <a:defRPr sz="6600" b="1">
                <a:solidFill>
                  <a:srgbClr val="F5F4EF"/>
                </a:solidFill>
                <a:latin typeface="DejaVu Sans"/>
                <a:ea typeface="DejaVu Sans"/>
                <a:cs typeface="DejaVu Sans"/>
              </a:defRPr>
            </a:lvl2pPr>
            <a:lvl3pPr algn="r">
              <a:defRPr sz="6600" b="1">
                <a:solidFill>
                  <a:srgbClr val="F5F4EF"/>
                </a:solidFill>
                <a:latin typeface="DejaVu Sans"/>
                <a:ea typeface="DejaVu Sans"/>
                <a:cs typeface="DejaVu Sans"/>
              </a:defRPr>
            </a:lvl3pPr>
            <a:lvl4pPr algn="r">
              <a:defRPr sz="6600" b="1">
                <a:solidFill>
                  <a:srgbClr val="F5F4EF"/>
                </a:solidFill>
                <a:latin typeface="DejaVu Sans"/>
                <a:ea typeface="DejaVu Sans"/>
                <a:cs typeface="DejaVu Sans"/>
              </a:defRPr>
            </a:lvl4pPr>
            <a:lvl5pPr algn="r">
              <a:defRPr sz="6600" b="1">
                <a:solidFill>
                  <a:srgbClr val="F5F4EF"/>
                </a:solidFill>
                <a:latin typeface="DejaVu Sans"/>
                <a:ea typeface="DejaVu Sans"/>
                <a:cs typeface="DejaVu Sans"/>
              </a:defRPr>
            </a:lvl5pPr>
            <a:lvl6pPr algn="r">
              <a:defRPr sz="6600" b="1">
                <a:solidFill>
                  <a:srgbClr val="F5F4EF"/>
                </a:solidFill>
                <a:latin typeface="DejaVu Sans"/>
                <a:ea typeface="DejaVu Sans"/>
                <a:cs typeface="DejaVu Sans"/>
              </a:defRPr>
            </a:lvl6pPr>
            <a:lvl7pPr algn="r">
              <a:defRPr sz="6600" b="1">
                <a:solidFill>
                  <a:srgbClr val="F5F4EF"/>
                </a:solidFill>
                <a:latin typeface="DejaVu Sans"/>
                <a:ea typeface="DejaVu Sans"/>
                <a:cs typeface="DejaVu Sans"/>
              </a:defRPr>
            </a:lvl7pPr>
            <a:lvl8pPr algn="r">
              <a:defRPr sz="6600" b="1">
                <a:solidFill>
                  <a:srgbClr val="F5F4EF"/>
                </a:solidFill>
                <a:latin typeface="DejaVu Sans"/>
                <a:ea typeface="DejaVu Sans"/>
                <a:cs typeface="DejaVu Sans"/>
              </a:defRPr>
            </a:lvl8pPr>
            <a:lvl9pPr algn="r">
              <a:defRPr sz="6600" b="1">
                <a:solidFill>
                  <a:srgbClr val="F5F4EF"/>
                </a:solidFill>
                <a:latin typeface="DejaVu Sans"/>
                <a:ea typeface="DejaVu Sans"/>
                <a:cs typeface="DejaVu Sans"/>
              </a:defRPr>
            </a:lvl9pPr>
          </a:lstStyle>
          <a:p xmlns:a="http://schemas.openxmlformats.org/drawingml/2006/main">
            <a:pPr algn="r">
              <a:defRPr sz="6600" b="1">
                <a:solidFill>
                  <a:srgbClr val="F5F4EF"/>
                </a:solidFill>
                <a:latin typeface="DejaVu Sans"/>
                <a:ea typeface="DejaVu Sans"/>
                <a:cs typeface="DejaVu Sans"/>
              </a:defRPr>
            </a:pPr>
            <a:r>
              <a:rPr sz="6600" b="1">
                <a:solidFill>
                  <a:srgbClr val="F5F4EF"/>
                </a:solidFill>
                <a:latin typeface="DejaVu Sans"/>
                <a:ea typeface="DejaVu Sans"/>
                <a:cs typeface="DejaVu Sans"/>
              </a:rPr>
              <a:t>PT WEB LAB</a:t>
            </a:r>
          </a:p>
        </p:txBody>
      </p:sp>
      <p:sp>
        <p:nvSpPr>
          <p:cNvPr id="6" name="cover-subtitle">
            <a:extLst xmlns:a="http://schemas.openxmlformats.org/drawingml/2006/main">
              <a:ext uri="{FF2B5EF4-FFF2-40B4-BE49-F238E27FC236}">
                <a16:creationId xmlns:a16="http://schemas.microsoft.com/office/drawing/2014/main" id="{E2FC05AE-3FAD-40C9-A9EF-1D21E6081415}"/>
              </a:ext>
            </a:extLst>
          </p:cNvPr>
          <p:cNvSpPr>
            <a:spLocks xmlns:a="http://schemas.openxmlformats.org/drawingml/2006/main" noGrp="1"/>
          </p:cNvSpPr>
          <p:nvPr/>
        </p:nvSpPr>
        <p:spPr>
          <a:xfrm xmlns:a="http://schemas.openxmlformats.org/drawingml/2006/main">
            <a:off x="6953250" y="4000500"/>
            <a:ext cx="74771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775" b="0">
                <a:solidFill>
                  <a:srgbClr val="F5F4EF"/>
                </a:solidFill>
                <a:latin typeface="DejaVu Sans"/>
                <a:ea typeface="DejaVu Sans"/>
                <a:cs typeface="DejaVu Sans"/>
              </a:defRPr>
            </a:defPPr>
            <a:lvl1pPr algn="r">
              <a:defRPr sz="2775" b="0">
                <a:solidFill>
                  <a:srgbClr val="F5F4EF"/>
                </a:solidFill>
                <a:latin typeface="DejaVu Sans"/>
                <a:ea typeface="DejaVu Sans"/>
                <a:cs typeface="DejaVu Sans"/>
              </a:defRPr>
            </a:lvl1pPr>
            <a:lvl2pPr algn="r">
              <a:defRPr sz="2775" b="0">
                <a:solidFill>
                  <a:srgbClr val="F5F4EF"/>
                </a:solidFill>
                <a:latin typeface="DejaVu Sans"/>
                <a:ea typeface="DejaVu Sans"/>
                <a:cs typeface="DejaVu Sans"/>
              </a:defRPr>
            </a:lvl2pPr>
            <a:lvl3pPr algn="r">
              <a:defRPr sz="2775" b="0">
                <a:solidFill>
                  <a:srgbClr val="F5F4EF"/>
                </a:solidFill>
                <a:latin typeface="DejaVu Sans"/>
                <a:ea typeface="DejaVu Sans"/>
                <a:cs typeface="DejaVu Sans"/>
              </a:defRPr>
            </a:lvl3pPr>
            <a:lvl4pPr algn="r">
              <a:defRPr sz="2775" b="0">
                <a:solidFill>
                  <a:srgbClr val="F5F4EF"/>
                </a:solidFill>
                <a:latin typeface="DejaVu Sans"/>
                <a:ea typeface="DejaVu Sans"/>
                <a:cs typeface="DejaVu Sans"/>
              </a:defRPr>
            </a:lvl4pPr>
            <a:lvl5pPr algn="r">
              <a:defRPr sz="2775" b="0">
                <a:solidFill>
                  <a:srgbClr val="F5F4EF"/>
                </a:solidFill>
                <a:latin typeface="DejaVu Sans"/>
                <a:ea typeface="DejaVu Sans"/>
                <a:cs typeface="DejaVu Sans"/>
              </a:defRPr>
            </a:lvl5pPr>
            <a:lvl6pPr algn="r">
              <a:defRPr sz="2775" b="0">
                <a:solidFill>
                  <a:srgbClr val="F5F4EF"/>
                </a:solidFill>
                <a:latin typeface="DejaVu Sans"/>
                <a:ea typeface="DejaVu Sans"/>
                <a:cs typeface="DejaVu Sans"/>
              </a:defRPr>
            </a:lvl6pPr>
            <a:lvl7pPr algn="r">
              <a:defRPr sz="2775" b="0">
                <a:solidFill>
                  <a:srgbClr val="F5F4EF"/>
                </a:solidFill>
                <a:latin typeface="DejaVu Sans"/>
                <a:ea typeface="DejaVu Sans"/>
                <a:cs typeface="DejaVu Sans"/>
              </a:defRPr>
            </a:lvl7pPr>
            <a:lvl8pPr algn="r">
              <a:defRPr sz="2775" b="0">
                <a:solidFill>
                  <a:srgbClr val="F5F4EF"/>
                </a:solidFill>
                <a:latin typeface="DejaVu Sans"/>
                <a:ea typeface="DejaVu Sans"/>
                <a:cs typeface="DejaVu Sans"/>
              </a:defRPr>
            </a:lvl8pPr>
            <a:lvl9pPr algn="r">
              <a:defRPr sz="2775" b="0">
                <a:solidFill>
                  <a:srgbClr val="F5F4EF"/>
                </a:solidFill>
                <a:latin typeface="DejaVu Sans"/>
                <a:ea typeface="DejaVu Sans"/>
                <a:cs typeface="DejaVu Sans"/>
              </a:defRPr>
            </a:lvl9pPr>
          </a:lstStyle>
          <a:p xmlns:a="http://schemas.openxmlformats.org/drawingml/2006/main">
            <a:pPr algn="r" rtl="1">
              <a:defRPr sz="2775" b="0">
                <a:solidFill>
                  <a:srgbClr val="F5F4EF"/>
                </a:solidFill>
                <a:latin typeface="DejaVu Sans"/>
                <a:ea typeface="DejaVu Sans"/>
                <a:cs typeface="DejaVu Sans"/>
              </a:defRPr>
            </a:pPr>
            <a:r>
              <a:rPr sz="2775" b="0" lang="he-IL">
                <a:solidFill>
                  <a:srgbClr val="F5F4EF"/>
                </a:solidFill>
                <a:latin typeface="DejaVu Sans"/>
                <a:ea typeface="DejaVu Sans"/>
                <a:cs typeface="DejaVu Sans"/>
              </a:rPr>
              <a:t>פיתוח, הגנה ובדיקות חדירה</a:t>
            </a:r>
          </a:p>
          <a:p xmlns:a="http://schemas.openxmlformats.org/drawingml/2006/main">
            <a:pPr algn="r" rtl="1">
              <a:defRPr sz="2775" b="0">
                <a:solidFill>
                  <a:srgbClr val="F5F4EF"/>
                </a:solidFill>
                <a:latin typeface="DejaVu Sans"/>
                <a:ea typeface="DejaVu Sans"/>
                <a:cs typeface="DejaVu Sans"/>
              </a:defRPr>
            </a:pPr>
            <a:r>
              <a:rPr sz="2775" b="0" lang="he-IL">
                <a:solidFill>
                  <a:srgbClr val="F5F4EF"/>
                </a:solidFill>
                <a:latin typeface="DejaVu Sans"/>
                <a:ea typeface="DejaVu Sans"/>
                <a:cs typeface="DejaVu Sans"/>
              </a:rPr>
              <a:t>תיעוד ממעבדה אישית</a:t>
            </a:r>
          </a:p>
        </p:txBody>
      </p:sp>
      <p:sp>
        <p:nvSpPr>
          <p:cNvPr id="7" name="cover-author">
            <a:extLst xmlns:a="http://schemas.openxmlformats.org/drawingml/2006/main">
              <a:ext uri="{FF2B5EF4-FFF2-40B4-BE49-F238E27FC236}">
                <a16:creationId xmlns:a16="http://schemas.microsoft.com/office/drawing/2014/main" id="{990D6C9E-4BA5-4BED-80BD-D576B324EA88}"/>
              </a:ext>
            </a:extLst>
          </p:cNvPr>
          <p:cNvSpPr>
            <a:spLocks xmlns:a="http://schemas.openxmlformats.org/drawingml/2006/main" noGrp="1"/>
          </p:cNvSpPr>
          <p:nvPr/>
        </p:nvSpPr>
        <p:spPr>
          <a:xfrm xmlns:a="http://schemas.openxmlformats.org/drawingml/2006/main">
            <a:off x="7810500" y="6191250"/>
            <a:ext cx="6619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0">
                <a:solidFill>
                  <a:srgbClr val="CAD4DC"/>
                </a:solidFill>
                <a:latin typeface="DejaVu Sans"/>
                <a:ea typeface="DejaVu Sans"/>
                <a:cs typeface="DejaVu Sans"/>
              </a:defRPr>
            </a:defPPr>
            <a:lvl1pPr algn="r">
              <a:defRPr sz="2025" b="0">
                <a:solidFill>
                  <a:srgbClr val="CAD4DC"/>
                </a:solidFill>
                <a:latin typeface="DejaVu Sans"/>
                <a:ea typeface="DejaVu Sans"/>
                <a:cs typeface="DejaVu Sans"/>
              </a:defRPr>
            </a:lvl1pPr>
            <a:lvl2pPr algn="r">
              <a:defRPr sz="2025" b="0">
                <a:solidFill>
                  <a:srgbClr val="CAD4DC"/>
                </a:solidFill>
                <a:latin typeface="DejaVu Sans"/>
                <a:ea typeface="DejaVu Sans"/>
                <a:cs typeface="DejaVu Sans"/>
              </a:defRPr>
            </a:lvl2pPr>
            <a:lvl3pPr algn="r">
              <a:defRPr sz="2025" b="0">
                <a:solidFill>
                  <a:srgbClr val="CAD4DC"/>
                </a:solidFill>
                <a:latin typeface="DejaVu Sans"/>
                <a:ea typeface="DejaVu Sans"/>
                <a:cs typeface="DejaVu Sans"/>
              </a:defRPr>
            </a:lvl3pPr>
            <a:lvl4pPr algn="r">
              <a:defRPr sz="2025" b="0">
                <a:solidFill>
                  <a:srgbClr val="CAD4DC"/>
                </a:solidFill>
                <a:latin typeface="DejaVu Sans"/>
                <a:ea typeface="DejaVu Sans"/>
                <a:cs typeface="DejaVu Sans"/>
              </a:defRPr>
            </a:lvl4pPr>
            <a:lvl5pPr algn="r">
              <a:defRPr sz="2025" b="0">
                <a:solidFill>
                  <a:srgbClr val="CAD4DC"/>
                </a:solidFill>
                <a:latin typeface="DejaVu Sans"/>
                <a:ea typeface="DejaVu Sans"/>
                <a:cs typeface="DejaVu Sans"/>
              </a:defRPr>
            </a:lvl5pPr>
            <a:lvl6pPr algn="r">
              <a:defRPr sz="2025" b="0">
                <a:solidFill>
                  <a:srgbClr val="CAD4DC"/>
                </a:solidFill>
                <a:latin typeface="DejaVu Sans"/>
                <a:ea typeface="DejaVu Sans"/>
                <a:cs typeface="DejaVu Sans"/>
              </a:defRPr>
            </a:lvl6pPr>
            <a:lvl7pPr algn="r">
              <a:defRPr sz="2025" b="0">
                <a:solidFill>
                  <a:srgbClr val="CAD4DC"/>
                </a:solidFill>
                <a:latin typeface="DejaVu Sans"/>
                <a:ea typeface="DejaVu Sans"/>
                <a:cs typeface="DejaVu Sans"/>
              </a:defRPr>
            </a:lvl7pPr>
            <a:lvl8pPr algn="r">
              <a:defRPr sz="2025" b="0">
                <a:solidFill>
                  <a:srgbClr val="CAD4DC"/>
                </a:solidFill>
                <a:latin typeface="DejaVu Sans"/>
                <a:ea typeface="DejaVu Sans"/>
                <a:cs typeface="DejaVu Sans"/>
              </a:defRPr>
            </a:lvl8pPr>
            <a:lvl9pPr algn="r">
              <a:defRPr sz="2025" b="0">
                <a:solidFill>
                  <a:srgbClr val="CAD4DC"/>
                </a:solidFill>
                <a:latin typeface="DejaVu Sans"/>
                <a:ea typeface="DejaVu Sans"/>
                <a:cs typeface="DejaVu Sans"/>
              </a:defRPr>
            </a:lvl9pPr>
          </a:lstStyle>
          <a:p xmlns:a="http://schemas.openxmlformats.org/drawingml/2006/main">
            <a:pPr algn="r" rtl="1">
              <a:defRPr sz="2025" b="0">
                <a:solidFill>
                  <a:srgbClr val="CAD4DC"/>
                </a:solidFill>
                <a:latin typeface="DejaVu Sans"/>
                <a:ea typeface="DejaVu Sans"/>
                <a:cs typeface="DejaVu Sans"/>
              </a:defRPr>
            </a:pPr>
            <a:r>
              <a:rPr sz="2025" b="0" lang="he-IL">
                <a:solidFill>
                  <a:srgbClr val="CAD4DC"/>
                </a:solidFill>
                <a:latin typeface="DejaVu Sans"/>
                <a:ea typeface="DejaVu Sans"/>
                <a:cs typeface="DejaVu Sans"/>
              </a:rPr>
              <a:t>איתי בכור</a:t>
            </a:r>
          </a:p>
          <a:p xmlns:a="http://schemas.openxmlformats.org/drawingml/2006/main">
            <a:pPr algn="r" rtl="1">
              <a:defRPr sz="2025" b="0">
                <a:solidFill>
                  <a:srgbClr val="CAD4DC"/>
                </a:solidFill>
                <a:latin typeface="DejaVu Sans"/>
                <a:ea typeface="DejaVu Sans"/>
                <a:cs typeface="DejaVu Sans"/>
              </a:defRPr>
            </a:pPr>
            <a:r>
              <a:rPr sz="2025" b="0" lang="he-IL">
                <a:solidFill>
                  <a:srgbClr val="CAD4DC"/>
                </a:solidFill>
                <a:latin typeface="DejaVu Sans"/>
                <a:ea typeface="DejaVu Sans"/>
                <a:cs typeface="DejaVu Sans"/>
              </a:rPr>
              <a:t>אוקטובר 2026</a:t>
            </a:r>
          </a:p>
        </p:txBody>
      </p:sp>
    </p:spTree>
    <p:extLst>
      <p:ext uri="{BB962C8B-B14F-4D97-AF65-F5344CB8AC3E}">
        <p14:creationId xmlns:p14="http://schemas.microsoft.com/office/powerpoint/2010/main" val="863131731"/>
      </p:ext>
    </p:extLst>
  </p:cSld>
</p:sld>
</file>

<file path=ppt/slides/slide2.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A42B04E-CB24-4875-B834-15DF031244DD}"/>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DFC5F0B4-1FAB-46AA-BEA6-E82B33C8B716}"/>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אפליקציית Web במעבדה עצמאית</a:t>
            </a:r>
          </a:p>
        </p:txBody>
      </p:sp>
      <p:pic>
        <p:nvPicPr>
          <p:cNvPr id="3" name="">
            <a:extLst xmlns:a="http://schemas.openxmlformats.org/drawingml/2006/main">
              <a:ext uri="{FF2B5EF4-FFF2-40B4-BE49-F238E27FC236}">
                <a16:creationId xmlns:a16="http://schemas.microsoft.com/office/drawing/2014/main" id="{B5AC1216-843B-4FB2-9E59-551A09FAB070}"/>
              </a:ext>
            </a:extLst>
          </p:cNvPr>
          <p:cNvPicPr>
            <a:picLocks xmlns:a="http://schemas.openxmlformats.org/drawingml/2006/main" noChangeAspect="1"/>
          </p:cNvPicPr>
          <p:nvPr/>
        </p:nvPicPr>
        <p:blipFill>
          <a:blip xmlns:r="http://schemas.openxmlformats.org/officeDocument/2006/relationships" xmlns:a="http://schemas.openxmlformats.org/drawingml/2006/main" r:embed="R23f8a95376474efd"/>
          <a:stretch xmlns:a="http://schemas.openxmlformats.org/drawingml/2006/main"/>
        </p:blipFill>
        <p:spPr>
          <a:xfrm xmlns:a="http://schemas.openxmlformats.org/drawingml/2006/main">
            <a:off x="2997391" y="1857375"/>
            <a:ext cx="9245219"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36D22E5B-EFF9-4DDC-BBC4-3CF622C50F8E}"/>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פיתחתי מערכת הרשמה וכניסה ב־Python ו־Flask על Kali, עם SQLite. המטרה: ללמוד פיתוח מאובטח ולבדוק בפועל את מנגנוני ההגנה.</a:t>
            </a:r>
          </a:p>
        </p:txBody>
      </p:sp>
      <p:sp>
        <p:nvSpPr>
          <p:cNvPr id="5" name="folio">
            <a:extLst xmlns:a="http://schemas.openxmlformats.org/drawingml/2006/main">
              <a:ext uri="{FF2B5EF4-FFF2-40B4-BE49-F238E27FC236}">
                <a16:creationId xmlns:a16="http://schemas.microsoft.com/office/drawing/2014/main" id="{D530B4DD-35A7-4351-B202-E05CE859F077}"/>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02 / 30</a:t>
            </a:r>
          </a:p>
        </p:txBody>
      </p:sp>
      <p:sp>
        <p:nvSpPr>
          <p:cNvPr id="6" name="footer">
            <a:extLst xmlns:a="http://schemas.openxmlformats.org/drawingml/2006/main">
              <a:ext uri="{FF2B5EF4-FFF2-40B4-BE49-F238E27FC236}">
                <a16:creationId xmlns:a16="http://schemas.microsoft.com/office/drawing/2014/main" id="{0AF9417C-BF27-4191-A0BC-50E025F05F30}"/>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946473533"/>
      </p:ext>
    </p:extLst>
  </p:cSld>
</p:sld>
</file>

<file path=ppt/slides/slide3.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96D662D-0117-44B0-B306-90C0AFF29A0F}"/>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AD2074AA-765A-48B6-AF1F-C2182E4934C1}"/>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סיסמאות נשמרות בגיבוב</a:t>
            </a:r>
          </a:p>
        </p:txBody>
      </p:sp>
      <p:pic>
        <p:nvPicPr>
          <p:cNvPr id="3" name="">
            <a:extLst xmlns:a="http://schemas.openxmlformats.org/drawingml/2006/main">
              <a:ext uri="{FF2B5EF4-FFF2-40B4-BE49-F238E27FC236}">
                <a16:creationId xmlns:a16="http://schemas.microsoft.com/office/drawing/2014/main" id="{0C296574-3BA5-4EA5-8919-600535840898}"/>
              </a:ext>
            </a:extLst>
          </p:cNvPr>
          <p:cNvPicPr>
            <a:picLocks xmlns:a="http://schemas.openxmlformats.org/drawingml/2006/main" noChangeAspect="1"/>
          </p:cNvPicPr>
          <p:nvPr/>
        </p:nvPicPr>
        <p:blipFill>
          <a:blip xmlns:r="http://schemas.openxmlformats.org/officeDocument/2006/relationships" xmlns:a="http://schemas.openxmlformats.org/drawingml/2006/main" r:embed="R5485ebbfe39245eb"/>
          <a:stretch xmlns:a="http://schemas.openxmlformats.org/drawingml/2006/main"/>
        </p:blipFill>
        <p:spPr>
          <a:xfrm xmlns:a="http://schemas.openxmlformats.org/drawingml/2006/main">
            <a:off x="2026679" y="1857375"/>
            <a:ext cx="11186642"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4FF5C9D4-5A96-43B2-B46B-0C11FD53DD29}"/>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בדקתי במסד הנתונים שהיישום משתמש ב־scrypt. הסיסמה עצמה אינה נשמרת כטקסט גלוי.</a:t>
            </a:r>
          </a:p>
        </p:txBody>
      </p:sp>
      <p:sp>
        <p:nvSpPr>
          <p:cNvPr id="5" name="folio">
            <a:extLst xmlns:a="http://schemas.openxmlformats.org/drawingml/2006/main">
              <a:ext uri="{FF2B5EF4-FFF2-40B4-BE49-F238E27FC236}">
                <a16:creationId xmlns:a16="http://schemas.microsoft.com/office/drawing/2014/main" id="{85AAA0FE-0F54-4945-B288-D8B24481497E}"/>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03 / 30</a:t>
            </a:r>
          </a:p>
        </p:txBody>
      </p:sp>
      <p:sp>
        <p:nvSpPr>
          <p:cNvPr id="6" name="footer">
            <a:extLst xmlns:a="http://schemas.openxmlformats.org/drawingml/2006/main">
              <a:ext uri="{FF2B5EF4-FFF2-40B4-BE49-F238E27FC236}">
                <a16:creationId xmlns:a16="http://schemas.microsoft.com/office/drawing/2014/main" id="{2C61C6EC-9BA5-41D6-9718-0952E1D04072}"/>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85889564"/>
      </p:ext>
    </p:extLst>
  </p:cSld>
</p:sld>
</file>

<file path=ppt/slides/slide4.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2E48090-7F1E-4F17-82B0-E69CDC652C0D}"/>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04F5A0BA-CC58-48A3-8DB6-0DF8A904165A}"/>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הפרדה בין הרשתות</a:t>
            </a:r>
          </a:p>
        </p:txBody>
      </p:sp>
      <p:pic>
        <p:nvPicPr>
          <p:cNvPr id="3" name="">
            <a:extLst xmlns:a="http://schemas.openxmlformats.org/drawingml/2006/main">
              <a:ext uri="{FF2B5EF4-FFF2-40B4-BE49-F238E27FC236}">
                <a16:creationId xmlns:a16="http://schemas.microsoft.com/office/drawing/2014/main" id="{C94A7AD7-BEBC-44E0-9EE5-F5FBE105C95D}"/>
              </a:ext>
            </a:extLst>
          </p:cNvPr>
          <p:cNvPicPr>
            <a:picLocks xmlns:a="http://schemas.openxmlformats.org/drawingml/2006/main" noChangeAspect="1"/>
          </p:cNvPicPr>
          <p:nvPr/>
        </p:nvPicPr>
        <p:blipFill>
          <a:blip xmlns:r="http://schemas.openxmlformats.org/officeDocument/2006/relationships" xmlns:a="http://schemas.openxmlformats.org/drawingml/2006/main" r:embed="Rb6fb9a753d284270"/>
          <a:stretch xmlns:a="http://schemas.openxmlformats.org/drawingml/2006/main"/>
        </p:blipFill>
        <p:spPr>
          <a:xfrm xmlns:a="http://schemas.openxmlformats.org/drawingml/2006/main">
            <a:off x="952500" y="2429380"/>
            <a:ext cx="13335000" cy="318986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ECC6098F-FD0D-43C6-870B-E4EFAA624590}"/>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הקמתי OPNsense עם ממשקי WAN ו־LAN. מחשב הבדיקה פונה לכתובת ה־WAN, והאתר פועל ברשת הפנימית.</a:t>
            </a:r>
          </a:p>
        </p:txBody>
      </p:sp>
      <p:sp>
        <p:nvSpPr>
          <p:cNvPr id="5" name="folio">
            <a:extLst xmlns:a="http://schemas.openxmlformats.org/drawingml/2006/main">
              <a:ext uri="{FF2B5EF4-FFF2-40B4-BE49-F238E27FC236}">
                <a16:creationId xmlns:a16="http://schemas.microsoft.com/office/drawing/2014/main" id="{35BB4021-B143-4287-B6A5-3AE5775CA8F3}"/>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04 / 30</a:t>
            </a:r>
          </a:p>
        </p:txBody>
      </p:sp>
      <p:sp>
        <p:nvSpPr>
          <p:cNvPr id="6" name="footer">
            <a:extLst xmlns:a="http://schemas.openxmlformats.org/drawingml/2006/main">
              <a:ext uri="{FF2B5EF4-FFF2-40B4-BE49-F238E27FC236}">
                <a16:creationId xmlns:a16="http://schemas.microsoft.com/office/drawing/2014/main" id="{BCD861F7-C339-4B06-932F-C7F2C936FD0C}"/>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315684447"/>
      </p:ext>
    </p:extLst>
  </p:cSld>
</p:sld>
</file>

<file path=ppt/slides/slide5.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44DC7A0-EA33-4483-A29A-6B5EB66858DE}"/>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AA2FFC92-06F3-47AC-A0D3-994A60EFB0BD}"/>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האתר עולה כשירות</a:t>
            </a:r>
          </a:p>
        </p:txBody>
      </p:sp>
      <p:pic>
        <p:nvPicPr>
          <p:cNvPr id="3" name="">
            <a:extLst xmlns:a="http://schemas.openxmlformats.org/drawingml/2006/main">
              <a:ext uri="{FF2B5EF4-FFF2-40B4-BE49-F238E27FC236}">
                <a16:creationId xmlns:a16="http://schemas.microsoft.com/office/drawing/2014/main" id="{474EB184-49A4-4CFE-8E9E-7B8944F3E15B}"/>
              </a:ext>
            </a:extLst>
          </p:cNvPr>
          <p:cNvPicPr>
            <a:picLocks xmlns:a="http://schemas.openxmlformats.org/drawingml/2006/main" noChangeAspect="1"/>
          </p:cNvPicPr>
          <p:nvPr/>
        </p:nvPicPr>
        <p:blipFill>
          <a:blip xmlns:r="http://schemas.openxmlformats.org/officeDocument/2006/relationships" xmlns:a="http://schemas.openxmlformats.org/drawingml/2006/main" r:embed="R573f38d04ef84f75"/>
          <a:stretch xmlns:a="http://schemas.openxmlformats.org/drawingml/2006/main"/>
        </p:blipFill>
        <p:spPr>
          <a:xfrm xmlns:a="http://schemas.openxmlformats.org/drawingml/2006/main">
            <a:off x="2638101" y="1857375"/>
            <a:ext cx="9963798"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435404BF-8A5D-42EA-8E2C-1586DAF486E8}"/>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הגדרתי הפעלה אוטומטית ליישום ול־Nginx. הבדיקה מציגה שירותים פעילים וכתובת שרת קבועה במעבדה.</a:t>
            </a:r>
          </a:p>
        </p:txBody>
      </p:sp>
      <p:sp>
        <p:nvSpPr>
          <p:cNvPr id="5" name="folio">
            <a:extLst xmlns:a="http://schemas.openxmlformats.org/drawingml/2006/main">
              <a:ext uri="{FF2B5EF4-FFF2-40B4-BE49-F238E27FC236}">
                <a16:creationId xmlns:a16="http://schemas.microsoft.com/office/drawing/2014/main" id="{648C5983-3B0A-4D68-B53B-A494BBB97DD4}"/>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05 / 30</a:t>
            </a:r>
          </a:p>
        </p:txBody>
      </p:sp>
      <p:sp>
        <p:nvSpPr>
          <p:cNvPr id="6" name="footer">
            <a:extLst xmlns:a="http://schemas.openxmlformats.org/drawingml/2006/main">
              <a:ext uri="{FF2B5EF4-FFF2-40B4-BE49-F238E27FC236}">
                <a16:creationId xmlns:a16="http://schemas.microsoft.com/office/drawing/2014/main" id="{FF780967-D9AD-45BA-97D3-55ABB1906840}"/>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541863022"/>
      </p:ext>
    </p:extLst>
  </p:cSld>
</p:sld>
</file>

<file path=ppt/slides/slide6.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9DD1F11-7D75-43C0-8D8F-9458CA37536C}"/>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234BA4D3-5DFB-4D1E-9871-2F2A6BBD99B7}"/>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כתובת קבועה לשרת</a:t>
            </a:r>
          </a:p>
        </p:txBody>
      </p:sp>
      <p:pic>
        <p:nvPicPr>
          <p:cNvPr id="3" name="">
            <a:extLst xmlns:a="http://schemas.openxmlformats.org/drawingml/2006/main">
              <a:ext uri="{FF2B5EF4-FFF2-40B4-BE49-F238E27FC236}">
                <a16:creationId xmlns:a16="http://schemas.microsoft.com/office/drawing/2014/main" id="{1A541C5A-FEF0-4AD5-BEAF-08330419CC90}"/>
              </a:ext>
            </a:extLst>
          </p:cNvPr>
          <p:cNvPicPr>
            <a:picLocks xmlns:a="http://schemas.openxmlformats.org/drawingml/2006/main" noChangeAspect="1"/>
          </p:cNvPicPr>
          <p:nvPr/>
        </p:nvPicPr>
        <p:blipFill>
          <a:blip xmlns:r="http://schemas.openxmlformats.org/officeDocument/2006/relationships" xmlns:a="http://schemas.openxmlformats.org/drawingml/2006/main" r:embed="R8125d4c68d9f4d70"/>
          <a:stretch xmlns:a="http://schemas.openxmlformats.org/drawingml/2006/main"/>
        </p:blipFill>
        <p:spPr>
          <a:xfrm xmlns:a="http://schemas.openxmlformats.org/drawingml/2006/main">
            <a:off x="1439356" y="1857375"/>
            <a:ext cx="12361288"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0FEA8362-E1EA-454A-95C5-E495E160F9EA}"/>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שמרתי חכירת DHCP לפי כתובת ה־MAC של Kali. כך חוק ההפניה ממשיך להפנות אל אותו שרת.</a:t>
            </a:r>
          </a:p>
        </p:txBody>
      </p:sp>
      <p:sp>
        <p:nvSpPr>
          <p:cNvPr id="5" name="folio">
            <a:extLst xmlns:a="http://schemas.openxmlformats.org/drawingml/2006/main">
              <a:ext uri="{FF2B5EF4-FFF2-40B4-BE49-F238E27FC236}">
                <a16:creationId xmlns:a16="http://schemas.microsoft.com/office/drawing/2014/main" id="{FCDDA451-24A3-4777-B727-C200DF2A499E}"/>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06 / 30</a:t>
            </a:r>
          </a:p>
        </p:txBody>
      </p:sp>
      <p:sp>
        <p:nvSpPr>
          <p:cNvPr id="6" name="footer">
            <a:extLst xmlns:a="http://schemas.openxmlformats.org/drawingml/2006/main">
              <a:ext uri="{FF2B5EF4-FFF2-40B4-BE49-F238E27FC236}">
                <a16:creationId xmlns:a16="http://schemas.microsoft.com/office/drawing/2014/main" id="{3F02E35D-6C73-48E0-9376-1D6AEE48D5DC}"/>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229001342"/>
      </p:ext>
    </p:extLst>
  </p:cSld>
</p:sld>
</file>

<file path=ppt/slides/slide7.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1B0C086-8FD8-4DD4-94F8-BF7BA6E5C249}"/>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60D46F14-07FD-4B41-86A7-7051F543CE62}"/>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גישה ממקור מורשה בלבד</a:t>
            </a:r>
          </a:p>
        </p:txBody>
      </p:sp>
      <p:pic>
        <p:nvPicPr>
          <p:cNvPr id="3" name="">
            <a:extLst xmlns:a="http://schemas.openxmlformats.org/drawingml/2006/main">
              <a:ext uri="{FF2B5EF4-FFF2-40B4-BE49-F238E27FC236}">
                <a16:creationId xmlns:a16="http://schemas.microsoft.com/office/drawing/2014/main" id="{60726387-15F7-41B2-A288-99DD834DCC04}"/>
              </a:ext>
            </a:extLst>
          </p:cNvPr>
          <p:cNvPicPr>
            <a:picLocks xmlns:a="http://schemas.openxmlformats.org/drawingml/2006/main" noChangeAspect="1"/>
          </p:cNvPicPr>
          <p:nvPr/>
        </p:nvPicPr>
        <p:blipFill>
          <a:blip xmlns:r="http://schemas.openxmlformats.org/officeDocument/2006/relationships" xmlns:a="http://schemas.openxmlformats.org/drawingml/2006/main" r:embed="Rb78003a1add744f8"/>
          <a:stretch xmlns:a="http://schemas.openxmlformats.org/drawingml/2006/main"/>
        </p:blipFill>
        <p:spPr>
          <a:xfrm xmlns:a="http://schemas.openxmlformats.org/drawingml/2006/main">
            <a:off x="4656104" y="1857375"/>
            <a:ext cx="5927793"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9D952316-0B4B-40D0-9F5F-3E4701DB2220}"/>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הגבלתי את מקור חוק ה־HTTPS לכתובת מחשב הבדיקה: 192.168.253.138/32. ההרשאה אינה ניתנת לכל הרשת.</a:t>
            </a:r>
          </a:p>
        </p:txBody>
      </p:sp>
      <p:sp>
        <p:nvSpPr>
          <p:cNvPr id="5" name="folio">
            <a:extLst xmlns:a="http://schemas.openxmlformats.org/drawingml/2006/main">
              <a:ext uri="{FF2B5EF4-FFF2-40B4-BE49-F238E27FC236}">
                <a16:creationId xmlns:a16="http://schemas.microsoft.com/office/drawing/2014/main" id="{E7E12F19-AD16-45C1-BFDB-551CBF5303B9}"/>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07 / 30</a:t>
            </a:r>
          </a:p>
        </p:txBody>
      </p:sp>
      <p:sp>
        <p:nvSpPr>
          <p:cNvPr id="6" name="footer">
            <a:extLst xmlns:a="http://schemas.openxmlformats.org/drawingml/2006/main">
              <a:ext uri="{FF2B5EF4-FFF2-40B4-BE49-F238E27FC236}">
                <a16:creationId xmlns:a16="http://schemas.microsoft.com/office/drawing/2014/main" id="{F9249CBE-F310-4A5C-9E7B-F875EB3AA411}"/>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584884454"/>
      </p:ext>
    </p:extLst>
  </p:cSld>
</p:sld>
</file>

<file path=ppt/slides/slide8.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C9EA80E-6BBD-44D1-9754-6E63A5938E8C}"/>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BCDB24D1-8EEC-45F6-A7D0-5BBE9FD5A79F}"/>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הפניית HTTPS לאפליקציה</a:t>
            </a:r>
          </a:p>
        </p:txBody>
      </p:sp>
      <p:pic>
        <p:nvPicPr>
          <p:cNvPr id="3" name="">
            <a:extLst xmlns:a="http://schemas.openxmlformats.org/drawingml/2006/main">
              <a:ext uri="{FF2B5EF4-FFF2-40B4-BE49-F238E27FC236}">
                <a16:creationId xmlns:a16="http://schemas.microsoft.com/office/drawing/2014/main" id="{CCBB3C85-0CD8-4B39-9D02-02473E0107E1}"/>
              </a:ext>
            </a:extLst>
          </p:cNvPr>
          <p:cNvPicPr>
            <a:picLocks xmlns:a="http://schemas.openxmlformats.org/drawingml/2006/main" noChangeAspect="1"/>
          </p:cNvPicPr>
          <p:nvPr/>
        </p:nvPicPr>
        <p:blipFill>
          <a:blip xmlns:r="http://schemas.openxmlformats.org/officeDocument/2006/relationships" xmlns:a="http://schemas.openxmlformats.org/drawingml/2006/main" r:embed="Re0fe858160d644e2"/>
          <a:stretch xmlns:a="http://schemas.openxmlformats.org/drawingml/2006/main"/>
        </p:blipFill>
        <p:spPr>
          <a:xfrm xmlns:a="http://schemas.openxmlformats.org/drawingml/2006/main">
            <a:off x="4607826" y="1857375"/>
            <a:ext cx="6024347"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C68ED1E8-4482-4C7A-9F16-DC3AD91CDC17}"/>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חוק NAT מפנה את פורט 443 ב־WAN אל 192.168.1.195:443. כלל הסינון המשויך מאפשר את התעבורה שהוגדרה.</a:t>
            </a:r>
          </a:p>
        </p:txBody>
      </p:sp>
      <p:sp>
        <p:nvSpPr>
          <p:cNvPr id="5" name="folio">
            <a:extLst xmlns:a="http://schemas.openxmlformats.org/drawingml/2006/main">
              <a:ext uri="{FF2B5EF4-FFF2-40B4-BE49-F238E27FC236}">
                <a16:creationId xmlns:a16="http://schemas.microsoft.com/office/drawing/2014/main" id="{76EDF6AF-A76F-45B0-8126-38D45DBF4952}"/>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08 / 30</a:t>
            </a:r>
          </a:p>
        </p:txBody>
      </p:sp>
      <p:sp>
        <p:nvSpPr>
          <p:cNvPr id="6" name="footer">
            <a:extLst xmlns:a="http://schemas.openxmlformats.org/drawingml/2006/main">
              <a:ext uri="{FF2B5EF4-FFF2-40B4-BE49-F238E27FC236}">
                <a16:creationId xmlns:a16="http://schemas.microsoft.com/office/drawing/2014/main" id="{D606FD4A-B85B-4CCA-8788-2F223DF38B40}"/>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4762791"/>
      </p:ext>
    </p:extLst>
  </p:cSld>
</p:sld>
</file>

<file path=ppt/slides/slide9.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63087FB-20B6-4026-B221-5A6D7F746A31}"/>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C54117DB-0782-4A7D-85BE-1991D2EE7364}"/>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בדיקה חיובית לפורט 443</a:t>
            </a:r>
          </a:p>
        </p:txBody>
      </p:sp>
      <p:pic>
        <p:nvPicPr>
          <p:cNvPr id="3" name="">
            <a:extLst xmlns:a="http://schemas.openxmlformats.org/drawingml/2006/main">
              <a:ext uri="{FF2B5EF4-FFF2-40B4-BE49-F238E27FC236}">
                <a16:creationId xmlns:a16="http://schemas.microsoft.com/office/drawing/2014/main" id="{92878386-44FA-4DCC-A5D2-23501B01CF8F}"/>
              </a:ext>
            </a:extLst>
          </p:cNvPr>
          <p:cNvPicPr>
            <a:picLocks xmlns:a="http://schemas.openxmlformats.org/drawingml/2006/main" noChangeAspect="1"/>
          </p:cNvPicPr>
          <p:nvPr/>
        </p:nvPicPr>
        <p:blipFill>
          <a:blip xmlns:r="http://schemas.openxmlformats.org/officeDocument/2006/relationships" xmlns:a="http://schemas.openxmlformats.org/drawingml/2006/main" r:embed="R941093b98482422f"/>
          <a:stretch xmlns:a="http://schemas.openxmlformats.org/drawingml/2006/main"/>
        </p:blipFill>
        <p:spPr>
          <a:xfrm xmlns:a="http://schemas.openxmlformats.org/drawingml/2006/main">
            <a:off x="1237815" y="1857375"/>
            <a:ext cx="12764369"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CAB08545-7040-4CDF-80DA-2D52B1087B41}"/>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ממחשב הבדיקה המורשה התקבל TcpTestSucceeded: True. זו ראיה לקישוריות TCP ליעד שנבדק.</a:t>
            </a:r>
          </a:p>
        </p:txBody>
      </p:sp>
      <p:sp>
        <p:nvSpPr>
          <p:cNvPr id="5" name="folio">
            <a:extLst xmlns:a="http://schemas.openxmlformats.org/drawingml/2006/main">
              <a:ext uri="{FF2B5EF4-FFF2-40B4-BE49-F238E27FC236}">
                <a16:creationId xmlns:a16="http://schemas.microsoft.com/office/drawing/2014/main" id="{B3CE3F63-A26C-40E1-A188-BE9E336E1F97}"/>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09 / 30</a:t>
            </a:r>
          </a:p>
        </p:txBody>
      </p:sp>
      <p:sp>
        <p:nvSpPr>
          <p:cNvPr id="6" name="footer">
            <a:extLst xmlns:a="http://schemas.openxmlformats.org/drawingml/2006/main">
              <a:ext uri="{FF2B5EF4-FFF2-40B4-BE49-F238E27FC236}">
                <a16:creationId xmlns:a16="http://schemas.microsoft.com/office/drawing/2014/main" id="{8CC09102-3DDC-4BE6-B203-19A6FA88CEDF}"/>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654046449"/>
      </p:ext>
    </p:extLst>
  </p:cSld>
</p:sld>
</file>

<file path=ppt/slides/slide10.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4A2609C-A1E2-46CF-97EA-281CCA1B7636}"/>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B0881570-C09B-4C59-97EE-07E37417B2B5}"/>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בדיקה ממקור לא מורשה</a:t>
            </a:r>
          </a:p>
        </p:txBody>
      </p:sp>
      <p:pic>
        <p:nvPicPr>
          <p:cNvPr id="3" name="">
            <a:extLst xmlns:a="http://schemas.openxmlformats.org/drawingml/2006/main">
              <a:ext uri="{FF2B5EF4-FFF2-40B4-BE49-F238E27FC236}">
                <a16:creationId xmlns:a16="http://schemas.microsoft.com/office/drawing/2014/main" id="{CE1BA8E0-9024-404B-A272-3BEA5D4B3073}"/>
              </a:ext>
            </a:extLst>
          </p:cNvPr>
          <p:cNvPicPr>
            <a:picLocks xmlns:a="http://schemas.openxmlformats.org/drawingml/2006/main" noChangeAspect="1"/>
          </p:cNvPicPr>
          <p:nvPr/>
        </p:nvPicPr>
        <p:blipFill>
          <a:blip xmlns:r="http://schemas.openxmlformats.org/officeDocument/2006/relationships" xmlns:a="http://schemas.openxmlformats.org/drawingml/2006/main" r:embed="Rd17dfb22d2c5454d"/>
          <a:stretch xmlns:a="http://schemas.openxmlformats.org/drawingml/2006/main"/>
        </p:blipFill>
        <p:spPr>
          <a:xfrm xmlns:a="http://schemas.openxmlformats.org/drawingml/2006/main">
            <a:off x="3858479" y="1857375"/>
            <a:ext cx="7523042"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5CCAB15F-B9D8-4238-B7C4-81C379133E19}"/>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החלפתי את כתובת מחשב הבדיקה למקור שלא הותר. ניסיון החיבור לפורט 443 נכשל.</a:t>
            </a:r>
          </a:p>
        </p:txBody>
      </p:sp>
      <p:sp>
        <p:nvSpPr>
          <p:cNvPr id="5" name="folio">
            <a:extLst xmlns:a="http://schemas.openxmlformats.org/drawingml/2006/main">
              <a:ext uri="{FF2B5EF4-FFF2-40B4-BE49-F238E27FC236}">
                <a16:creationId xmlns:a16="http://schemas.microsoft.com/office/drawing/2014/main" id="{1668F6DD-6700-4926-B4B7-D8FD5FA003E9}"/>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10 / 30</a:t>
            </a:r>
          </a:p>
        </p:txBody>
      </p:sp>
      <p:sp>
        <p:nvSpPr>
          <p:cNvPr id="6" name="footer">
            <a:extLst xmlns:a="http://schemas.openxmlformats.org/drawingml/2006/main">
              <a:ext uri="{FF2B5EF4-FFF2-40B4-BE49-F238E27FC236}">
                <a16:creationId xmlns:a16="http://schemas.microsoft.com/office/drawing/2014/main" id="{D710522B-C98C-40F8-B533-02BBEC9305CC}"/>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59084127"/>
      </p:ext>
    </p:extLst>
  </p:cSld>
</p:sld>
</file>

<file path=ppt/slides/slide11.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F62A2FD-84FA-4029-9E8D-20E82B873A7F}"/>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F726605F-ED08-4188-9B0D-116F146A4286}"/>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החסימה מופיעה גם בלוג</a:t>
            </a:r>
          </a:p>
        </p:txBody>
      </p:sp>
      <p:pic>
        <p:nvPicPr>
          <p:cNvPr id="3" name="">
            <a:extLst xmlns:a="http://schemas.openxmlformats.org/drawingml/2006/main">
              <a:ext uri="{FF2B5EF4-FFF2-40B4-BE49-F238E27FC236}">
                <a16:creationId xmlns:a16="http://schemas.microsoft.com/office/drawing/2014/main" id="{A6DFA5B5-DA37-4E39-80CD-1647BEA6B12A}"/>
              </a:ext>
            </a:extLst>
          </p:cNvPr>
          <p:cNvPicPr>
            <a:picLocks xmlns:a="http://schemas.openxmlformats.org/drawingml/2006/main" noChangeAspect="1"/>
          </p:cNvPicPr>
          <p:nvPr/>
        </p:nvPicPr>
        <p:blipFill>
          <a:blip xmlns:r="http://schemas.openxmlformats.org/officeDocument/2006/relationships" xmlns:a="http://schemas.openxmlformats.org/drawingml/2006/main" r:embed="Rf3f9900df89a4b99"/>
          <a:stretch xmlns:a="http://schemas.openxmlformats.org/drawingml/2006/main"/>
        </p:blipFill>
        <p:spPr>
          <a:xfrm xmlns:a="http://schemas.openxmlformats.org/drawingml/2006/main">
            <a:off x="2992540" y="1857375"/>
            <a:ext cx="9254920"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1533288A-5464-46F4-A0FF-B5EF99A65976}"/>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לוג ה־Firewall מציג תעבורה שנחסמה בזמן הבדיקה. השילוב עם כתובת המקור ותוצאת החיבור מחזק את הראיה לאכיפה.</a:t>
            </a:r>
          </a:p>
        </p:txBody>
      </p:sp>
      <p:sp>
        <p:nvSpPr>
          <p:cNvPr id="5" name="folio">
            <a:extLst xmlns:a="http://schemas.openxmlformats.org/drawingml/2006/main">
              <a:ext uri="{FF2B5EF4-FFF2-40B4-BE49-F238E27FC236}">
                <a16:creationId xmlns:a16="http://schemas.microsoft.com/office/drawing/2014/main" id="{87F285C4-ED1A-4708-A98E-78EB83788F2B}"/>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11 / 30</a:t>
            </a:r>
          </a:p>
        </p:txBody>
      </p:sp>
      <p:sp>
        <p:nvSpPr>
          <p:cNvPr id="6" name="footer">
            <a:extLst xmlns:a="http://schemas.openxmlformats.org/drawingml/2006/main">
              <a:ext uri="{FF2B5EF4-FFF2-40B4-BE49-F238E27FC236}">
                <a16:creationId xmlns:a16="http://schemas.microsoft.com/office/drawing/2014/main" id="{DB9C6816-0C32-4FC5-9850-EAA0A9ED111C}"/>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31187536"/>
      </p:ext>
    </p:extLst>
  </p:cSld>
</p:sld>
</file>

<file path=ppt/slides/slide12.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925668C-9AEC-4B3B-80E4-7910F3DBE2F5}"/>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834B8E34-5BF0-40F8-90E6-5D9C98FB90F0}"/>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כניסה תקינה כבדיקת בסיס</a:t>
            </a:r>
          </a:p>
        </p:txBody>
      </p:sp>
      <p:pic>
        <p:nvPicPr>
          <p:cNvPr id="3" name="">
            <a:extLst xmlns:a="http://schemas.openxmlformats.org/drawingml/2006/main">
              <a:ext uri="{FF2B5EF4-FFF2-40B4-BE49-F238E27FC236}">
                <a16:creationId xmlns:a16="http://schemas.microsoft.com/office/drawing/2014/main" id="{F7D71061-5F60-4ED5-BE69-C8BCEADEA8E0}"/>
              </a:ext>
            </a:extLst>
          </p:cNvPr>
          <p:cNvPicPr>
            <a:picLocks xmlns:a="http://schemas.openxmlformats.org/drawingml/2006/main" noChangeAspect="1"/>
          </p:cNvPicPr>
          <p:nvPr/>
        </p:nvPicPr>
        <p:blipFill>
          <a:blip xmlns:r="http://schemas.openxmlformats.org/officeDocument/2006/relationships" xmlns:a="http://schemas.openxmlformats.org/drawingml/2006/main" r:embed="Rd2c58e614e444e98"/>
          <a:stretch xmlns:a="http://schemas.openxmlformats.org/drawingml/2006/main"/>
        </p:blipFill>
        <p:spPr>
          <a:xfrm xmlns:a="http://schemas.openxmlformats.org/drawingml/2006/main">
            <a:off x="2962832" y="1857375"/>
            <a:ext cx="9314336"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DFAD440F-1323-4641-9F0D-BECF06FBC924}"/>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יצרתי חשבון בדיקה והתחברתי אליו. דף ה־Dashboard נפתח לאחר אימות, ושימש נקודת ייחוס לבדיקות ההמשך.</a:t>
            </a:r>
          </a:p>
        </p:txBody>
      </p:sp>
      <p:sp>
        <p:nvSpPr>
          <p:cNvPr id="5" name="folio">
            <a:extLst xmlns:a="http://schemas.openxmlformats.org/drawingml/2006/main">
              <a:ext uri="{FF2B5EF4-FFF2-40B4-BE49-F238E27FC236}">
                <a16:creationId xmlns:a16="http://schemas.microsoft.com/office/drawing/2014/main" id="{5A1A6755-6BD8-4199-BACC-1AAAE736D4D4}"/>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12 / 30</a:t>
            </a:r>
          </a:p>
        </p:txBody>
      </p:sp>
      <p:sp>
        <p:nvSpPr>
          <p:cNvPr id="6" name="footer">
            <a:extLst xmlns:a="http://schemas.openxmlformats.org/drawingml/2006/main">
              <a:ext uri="{FF2B5EF4-FFF2-40B4-BE49-F238E27FC236}">
                <a16:creationId xmlns:a16="http://schemas.microsoft.com/office/drawing/2014/main" id="{247BC88D-B9B0-4BFB-990C-6CD1208018EF}"/>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456558000"/>
      </p:ext>
    </p:extLst>
  </p:cSld>
</p:sld>
</file>

<file path=ppt/slides/slide13.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E1C1C98-47B8-4ABD-8BF0-C0AB9180FC88}"/>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B409E529-3D34-4413-AA94-A544C0BCD451}"/>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בדיקת קלט בהרשמה</a:t>
            </a:r>
          </a:p>
        </p:txBody>
      </p:sp>
      <p:pic>
        <p:nvPicPr>
          <p:cNvPr id="3" name="">
            <a:extLst xmlns:a="http://schemas.openxmlformats.org/drawingml/2006/main">
              <a:ext uri="{FF2B5EF4-FFF2-40B4-BE49-F238E27FC236}">
                <a16:creationId xmlns:a16="http://schemas.microsoft.com/office/drawing/2014/main" id="{465A6934-8DA6-4C6A-A2D3-65946BDD0480}"/>
              </a:ext>
            </a:extLst>
          </p:cNvPr>
          <p:cNvPicPr>
            <a:picLocks xmlns:a="http://schemas.openxmlformats.org/drawingml/2006/main" noChangeAspect="1"/>
          </p:cNvPicPr>
          <p:nvPr/>
        </p:nvPicPr>
        <p:blipFill>
          <a:blip xmlns:r="http://schemas.openxmlformats.org/officeDocument/2006/relationships" xmlns:a="http://schemas.openxmlformats.org/drawingml/2006/main" r:embed="Rf5f6fbe8f813431e"/>
          <a:stretch xmlns:a="http://schemas.openxmlformats.org/drawingml/2006/main"/>
        </p:blipFill>
        <p:spPr>
          <a:xfrm xmlns:a="http://schemas.openxmlformats.org/drawingml/2006/main">
            <a:off x="3170593" y="1857375"/>
            <a:ext cx="8898815"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D20ACDC3-4FCF-4DA0-976A-534A5386B115}"/>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שלחתי קלט המכיל תגית script לשדה שם המשתמש. היישום החזיר HTTP 400. התוצאה מתייחסת לקלט המסוים שנבדק.</a:t>
            </a:r>
          </a:p>
        </p:txBody>
      </p:sp>
      <p:sp>
        <p:nvSpPr>
          <p:cNvPr id="5" name="folio">
            <a:extLst xmlns:a="http://schemas.openxmlformats.org/drawingml/2006/main">
              <a:ext uri="{FF2B5EF4-FFF2-40B4-BE49-F238E27FC236}">
                <a16:creationId xmlns:a16="http://schemas.microsoft.com/office/drawing/2014/main" id="{8907425A-8455-4663-9588-B42D21340DE6}"/>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13 / 30</a:t>
            </a:r>
          </a:p>
        </p:txBody>
      </p:sp>
      <p:sp>
        <p:nvSpPr>
          <p:cNvPr id="6" name="footer">
            <a:extLst xmlns:a="http://schemas.openxmlformats.org/drawingml/2006/main">
              <a:ext uri="{FF2B5EF4-FFF2-40B4-BE49-F238E27FC236}">
                <a16:creationId xmlns:a16="http://schemas.microsoft.com/office/drawing/2014/main" id="{805936B0-E3AF-4BEA-8092-3F6EE7EA1EA1}"/>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297283896"/>
      </p:ext>
    </p:extLst>
  </p:cSld>
</p:sld>
</file>

<file path=ppt/slides/slide14.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F69FD01-527E-4557-8127-BAD4B3FEE63E}"/>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87A97ACF-78EA-4B8E-B202-9F0047287808}"/>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קידוד פלט בתבנית</a:t>
            </a:r>
          </a:p>
        </p:txBody>
      </p:sp>
      <p:pic>
        <p:nvPicPr>
          <p:cNvPr id="3" name="">
            <a:extLst xmlns:a="http://schemas.openxmlformats.org/drawingml/2006/main">
              <a:ext uri="{FF2B5EF4-FFF2-40B4-BE49-F238E27FC236}">
                <a16:creationId xmlns:a16="http://schemas.microsoft.com/office/drawing/2014/main" id="{B612A9FF-CE2B-400D-AAA5-6E519F3FA2CA}"/>
              </a:ext>
            </a:extLst>
          </p:cNvPr>
          <p:cNvPicPr>
            <a:picLocks xmlns:a="http://schemas.openxmlformats.org/drawingml/2006/main" noChangeAspect="1"/>
          </p:cNvPicPr>
          <p:nvPr/>
        </p:nvPicPr>
        <p:blipFill>
          <a:blip xmlns:r="http://schemas.openxmlformats.org/officeDocument/2006/relationships" xmlns:a="http://schemas.openxmlformats.org/drawingml/2006/main" r:embed="R5800d363fd1a4be8"/>
          <a:stretch xmlns:a="http://schemas.openxmlformats.org/drawingml/2006/main"/>
        </p:blipFill>
        <p:spPr>
          <a:xfrm xmlns:a="http://schemas.openxmlformats.org/drawingml/2006/main">
            <a:off x="3675235" y="1857375"/>
            <a:ext cx="7889531"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317ADAC8-CA82-4066-AF36-E969D5882D96}"/>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בפלט ה־HTML נראים תווים מקודדים במקום תגית פעילה. בדקתי גם את אופן החזרת הקלט, מעבר לקוד התגובה.</a:t>
            </a:r>
          </a:p>
        </p:txBody>
      </p:sp>
      <p:sp>
        <p:nvSpPr>
          <p:cNvPr id="5" name="folio">
            <a:extLst xmlns:a="http://schemas.openxmlformats.org/drawingml/2006/main">
              <a:ext uri="{FF2B5EF4-FFF2-40B4-BE49-F238E27FC236}">
                <a16:creationId xmlns:a16="http://schemas.microsoft.com/office/drawing/2014/main" id="{A60D08F0-5D9D-4B08-A90C-B63B0E78F133}"/>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14 / 30</a:t>
            </a:r>
          </a:p>
        </p:txBody>
      </p:sp>
      <p:sp>
        <p:nvSpPr>
          <p:cNvPr id="6" name="footer">
            <a:extLst xmlns:a="http://schemas.openxmlformats.org/drawingml/2006/main">
              <a:ext uri="{FF2B5EF4-FFF2-40B4-BE49-F238E27FC236}">
                <a16:creationId xmlns:a16="http://schemas.microsoft.com/office/drawing/2014/main" id="{9AFD6CD3-8D89-4F38-9349-528FB07893D5}"/>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221342253"/>
      </p:ext>
    </p:extLst>
  </p:cSld>
</p:sld>
</file>

<file path=ppt/slides/slide15.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F281A96-B1B4-4DD7-9D2B-0653E1CFEEFB}"/>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01C52C4B-5FBE-43E4-9C83-DA658DEB33E0}"/>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הגבלת ניסיונות כניסה</a:t>
            </a:r>
          </a:p>
        </p:txBody>
      </p:sp>
      <p:pic>
        <p:nvPicPr>
          <p:cNvPr id="3" name="">
            <a:extLst xmlns:a="http://schemas.openxmlformats.org/drawingml/2006/main">
              <a:ext uri="{FF2B5EF4-FFF2-40B4-BE49-F238E27FC236}">
                <a16:creationId xmlns:a16="http://schemas.microsoft.com/office/drawing/2014/main" id="{CE1A1AE4-7FE2-45B5-BF0B-BBDA540DC437}"/>
              </a:ext>
            </a:extLst>
          </p:cNvPr>
          <p:cNvPicPr>
            <a:picLocks xmlns:a="http://schemas.openxmlformats.org/drawingml/2006/main" noChangeAspect="1"/>
          </p:cNvPicPr>
          <p:nvPr/>
        </p:nvPicPr>
        <p:blipFill>
          <a:blip xmlns:r="http://schemas.openxmlformats.org/officeDocument/2006/relationships" xmlns:a="http://schemas.openxmlformats.org/drawingml/2006/main" r:embed="Rb7e66af12e3e42be"/>
          <a:stretch xmlns:a="http://schemas.openxmlformats.org/drawingml/2006/main"/>
        </p:blipFill>
        <p:spPr>
          <a:xfrm xmlns:a="http://schemas.openxmlformats.org/drawingml/2006/main">
            <a:off x="952500" y="2296315"/>
            <a:ext cx="13335000" cy="3455994"/>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8EFD7B24-EBA7-48F5-B520-CF582F11B61D}"/>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חמש בקשות כניסה שגויות החזירו 401. הבקשה השישית החזירה 429. ההגבלה במעבדה פועלת לפי IP ובזיכרון התהליך.</a:t>
            </a:r>
          </a:p>
        </p:txBody>
      </p:sp>
      <p:sp>
        <p:nvSpPr>
          <p:cNvPr id="5" name="folio">
            <a:extLst xmlns:a="http://schemas.openxmlformats.org/drawingml/2006/main">
              <a:ext uri="{FF2B5EF4-FFF2-40B4-BE49-F238E27FC236}">
                <a16:creationId xmlns:a16="http://schemas.microsoft.com/office/drawing/2014/main" id="{6B9C1EDC-3115-40FE-95EB-A01E57609CCB}"/>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15 / 30</a:t>
            </a:r>
          </a:p>
        </p:txBody>
      </p:sp>
      <p:sp>
        <p:nvSpPr>
          <p:cNvPr id="6" name="footer">
            <a:extLst xmlns:a="http://schemas.openxmlformats.org/drawingml/2006/main">
              <a:ext uri="{FF2B5EF4-FFF2-40B4-BE49-F238E27FC236}">
                <a16:creationId xmlns:a16="http://schemas.microsoft.com/office/drawing/2014/main" id="{DD6BBBB6-9713-4317-AD0D-58DA83E17903}"/>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16496781"/>
      </p:ext>
    </p:extLst>
  </p:cSld>
</p:sld>
</file>

<file path=ppt/slides/slide16.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A7895B8-962D-4C40-B354-775EDE34BC95}"/>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8F168ABA-70E2-4770-87F3-EB489EC4FEE7}"/>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הגנות על עוגיית ההתחברות</a:t>
            </a:r>
          </a:p>
        </p:txBody>
      </p:sp>
      <p:pic>
        <p:nvPicPr>
          <p:cNvPr id="3" name="">
            <a:extLst xmlns:a="http://schemas.openxmlformats.org/drawingml/2006/main">
              <a:ext uri="{FF2B5EF4-FFF2-40B4-BE49-F238E27FC236}">
                <a16:creationId xmlns:a16="http://schemas.microsoft.com/office/drawing/2014/main" id="{125CACC5-7F7B-41C2-94AB-208C23752297}"/>
              </a:ext>
            </a:extLst>
          </p:cNvPr>
          <p:cNvPicPr>
            <a:picLocks xmlns:a="http://schemas.openxmlformats.org/drawingml/2006/main" noChangeAspect="1"/>
          </p:cNvPicPr>
          <p:nvPr/>
        </p:nvPicPr>
        <p:blipFill>
          <a:blip xmlns:r="http://schemas.openxmlformats.org/officeDocument/2006/relationships" xmlns:a="http://schemas.openxmlformats.org/drawingml/2006/main" r:embed="R9f97f53bc3bb4ffb"/>
          <a:stretch xmlns:a="http://schemas.openxmlformats.org/drawingml/2006/main"/>
        </p:blipFill>
        <p:spPr>
          <a:xfrm xmlns:a="http://schemas.openxmlformats.org/drawingml/2006/main">
            <a:off x="952500" y="1962199"/>
            <a:ext cx="13335000" cy="4124227"/>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2CED4DC2-41F3-489D-82C5-6F70B50D8FFA}"/>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בדקתי את המאפיינים Secure, HttpOnly ו־SameSite=Lax. התמונה מציגה רק את מאפייני העוגייה, ללא ערך ה־Session.</a:t>
            </a:r>
          </a:p>
        </p:txBody>
      </p:sp>
      <p:sp>
        <p:nvSpPr>
          <p:cNvPr id="5" name="folio">
            <a:extLst xmlns:a="http://schemas.openxmlformats.org/drawingml/2006/main">
              <a:ext uri="{FF2B5EF4-FFF2-40B4-BE49-F238E27FC236}">
                <a16:creationId xmlns:a16="http://schemas.microsoft.com/office/drawing/2014/main" id="{69A37244-8A7B-463A-AE1A-0B6FDDF9D39E}"/>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16 / 30</a:t>
            </a:r>
          </a:p>
        </p:txBody>
      </p:sp>
      <p:sp>
        <p:nvSpPr>
          <p:cNvPr id="6" name="footer">
            <a:extLst xmlns:a="http://schemas.openxmlformats.org/drawingml/2006/main">
              <a:ext uri="{FF2B5EF4-FFF2-40B4-BE49-F238E27FC236}">
                <a16:creationId xmlns:a16="http://schemas.microsoft.com/office/drawing/2014/main" id="{AFBC8D92-C8EC-40DB-9D3A-1DDE90A04E05}"/>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843424971"/>
      </p:ext>
    </p:extLst>
  </p:cSld>
</p:sld>
</file>

<file path=ppt/slides/slide17.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060F628-1CC7-4EF1-A35C-368CFD73E54D}"/>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B72E1A49-00AD-4A5F-A99B-5440D736ECF3}"/>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ביטול Session אחרי יציאה</a:t>
            </a:r>
          </a:p>
        </p:txBody>
      </p:sp>
      <p:pic>
        <p:nvPicPr>
          <p:cNvPr id="3" name="">
            <a:extLst xmlns:a="http://schemas.openxmlformats.org/drawingml/2006/main">
              <a:ext uri="{FF2B5EF4-FFF2-40B4-BE49-F238E27FC236}">
                <a16:creationId xmlns:a16="http://schemas.microsoft.com/office/drawing/2014/main" id="{5E61ECBF-305E-4CB3-9DE9-E0CB76360A71}"/>
              </a:ext>
            </a:extLst>
          </p:cNvPr>
          <p:cNvPicPr>
            <a:picLocks xmlns:a="http://schemas.openxmlformats.org/drawingml/2006/main" noChangeAspect="1"/>
          </p:cNvPicPr>
          <p:nvPr/>
        </p:nvPicPr>
        <p:blipFill>
          <a:blip xmlns:r="http://schemas.openxmlformats.org/officeDocument/2006/relationships" xmlns:a="http://schemas.openxmlformats.org/drawingml/2006/main" r:embed="R20eed6cf8d87424e"/>
          <a:stretch xmlns:a="http://schemas.openxmlformats.org/drawingml/2006/main"/>
        </p:blipFill>
        <p:spPr>
          <a:xfrm xmlns:a="http://schemas.openxmlformats.org/drawingml/2006/main">
            <a:off x="2909518" y="1857375"/>
            <a:ext cx="9420964"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5160BC77-2D71-448D-9AE9-2AE04D30D9A1}"/>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לאחר Logout ניסיתי לגשת שוב ל־Dashboard עם ה־Session הקודם. השרת החזיר 302 לעמוד הכניסה.</a:t>
            </a:r>
          </a:p>
        </p:txBody>
      </p:sp>
      <p:sp>
        <p:nvSpPr>
          <p:cNvPr id="5" name="folio">
            <a:extLst xmlns:a="http://schemas.openxmlformats.org/drawingml/2006/main">
              <a:ext uri="{FF2B5EF4-FFF2-40B4-BE49-F238E27FC236}">
                <a16:creationId xmlns:a16="http://schemas.microsoft.com/office/drawing/2014/main" id="{3E301057-0534-42A9-AF85-7AD489680A6F}"/>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17 / 30</a:t>
            </a:r>
          </a:p>
        </p:txBody>
      </p:sp>
      <p:sp>
        <p:nvSpPr>
          <p:cNvPr id="6" name="footer">
            <a:extLst xmlns:a="http://schemas.openxmlformats.org/drawingml/2006/main">
              <a:ext uri="{FF2B5EF4-FFF2-40B4-BE49-F238E27FC236}">
                <a16:creationId xmlns:a16="http://schemas.microsoft.com/office/drawing/2014/main" id="{6C230836-65E0-406D-99EA-9A3B81C8E565}"/>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586320787"/>
      </p:ext>
    </p:extLst>
  </p:cSld>
</p:sld>
</file>

<file path=ppt/slides/slide18.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8787F4F-BC57-4399-BB11-4F7DDDCAB2DC}"/>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2BA08D32-6662-4B1F-A5BA-4E30203F7BE0}"/>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בדיקת מקור הבקשה</a:t>
            </a:r>
          </a:p>
        </p:txBody>
      </p:sp>
      <p:pic>
        <p:nvPicPr>
          <p:cNvPr id="3" name="">
            <a:extLst xmlns:a="http://schemas.openxmlformats.org/drawingml/2006/main">
              <a:ext uri="{FF2B5EF4-FFF2-40B4-BE49-F238E27FC236}">
                <a16:creationId xmlns:a16="http://schemas.microsoft.com/office/drawing/2014/main" id="{F3CF8E02-B725-4F2D-8C10-36B773175CF3}"/>
              </a:ext>
            </a:extLst>
          </p:cNvPr>
          <p:cNvPicPr>
            <a:picLocks xmlns:a="http://schemas.openxmlformats.org/drawingml/2006/main" noChangeAspect="1"/>
          </p:cNvPicPr>
          <p:nvPr/>
        </p:nvPicPr>
        <p:blipFill>
          <a:blip xmlns:r="http://schemas.openxmlformats.org/officeDocument/2006/relationships" xmlns:a="http://schemas.openxmlformats.org/drawingml/2006/main" r:embed="Rb33d7512143c4813"/>
          <a:stretch xmlns:a="http://schemas.openxmlformats.org/drawingml/2006/main"/>
        </p:blipFill>
        <p:spPr>
          <a:xfrm xmlns:a="http://schemas.openxmlformats.org/drawingml/2006/main">
            <a:off x="952500" y="2583334"/>
            <a:ext cx="13335000" cy="2881958"/>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14F8607E-3F89-461E-9D4E-9317A48E485E}"/>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מקור HTTPS מורשה הגיע לבדיקת הסיסמה והחזיר 401. מקור זר ובקשה ללא Origin החזירו 403.</a:t>
            </a:r>
          </a:p>
        </p:txBody>
      </p:sp>
      <p:sp>
        <p:nvSpPr>
          <p:cNvPr id="5" name="folio">
            <a:extLst xmlns:a="http://schemas.openxmlformats.org/drawingml/2006/main">
              <a:ext uri="{FF2B5EF4-FFF2-40B4-BE49-F238E27FC236}">
                <a16:creationId xmlns:a16="http://schemas.microsoft.com/office/drawing/2014/main" id="{B174FB9C-5EAE-4F57-822D-2FEAB475A155}"/>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18 / 30</a:t>
            </a:r>
          </a:p>
        </p:txBody>
      </p:sp>
      <p:sp>
        <p:nvSpPr>
          <p:cNvPr id="6" name="footer">
            <a:extLst xmlns:a="http://schemas.openxmlformats.org/drawingml/2006/main">
              <a:ext uri="{FF2B5EF4-FFF2-40B4-BE49-F238E27FC236}">
                <a16:creationId xmlns:a16="http://schemas.microsoft.com/office/drawing/2014/main" id="{C6725227-3183-4AA7-A6CE-9877D79031AB}"/>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875615733"/>
      </p:ext>
    </p:extLst>
  </p:cSld>
</p:sld>
</file>

<file path=ppt/slides/slide19.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67328B4-DC9D-41ED-8F6B-58BC7CA95E0D}"/>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902FD28B-EC9F-4936-A222-D89CC55783EE}"/>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יציאה ללא CSRF token נדחית</a:t>
            </a:r>
          </a:p>
        </p:txBody>
      </p:sp>
      <p:pic>
        <p:nvPicPr>
          <p:cNvPr id="3" name="">
            <a:extLst xmlns:a="http://schemas.openxmlformats.org/drawingml/2006/main">
              <a:ext uri="{FF2B5EF4-FFF2-40B4-BE49-F238E27FC236}">
                <a16:creationId xmlns:a16="http://schemas.microsoft.com/office/drawing/2014/main" id="{FF5A27FF-EA37-4C24-9983-9B543872F2C1}"/>
              </a:ext>
            </a:extLst>
          </p:cNvPr>
          <p:cNvPicPr>
            <a:picLocks xmlns:a="http://schemas.openxmlformats.org/drawingml/2006/main" noChangeAspect="1"/>
          </p:cNvPicPr>
          <p:nvPr/>
        </p:nvPicPr>
        <p:blipFill>
          <a:blip xmlns:r="http://schemas.openxmlformats.org/officeDocument/2006/relationships" xmlns:a="http://schemas.openxmlformats.org/drawingml/2006/main" r:embed="Rcb63de7330f24f60"/>
          <a:stretch xmlns:a="http://schemas.openxmlformats.org/drawingml/2006/main"/>
        </p:blipFill>
        <p:spPr>
          <a:xfrm xmlns:a="http://schemas.openxmlformats.org/drawingml/2006/main">
            <a:off x="952500" y="3025859"/>
            <a:ext cx="13335000" cy="1996908"/>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720D294D-D2BE-429D-8579-A19D28433B51}"/>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בקשת Logout ללא token החזירה 403. בדיקה לפני ואחרי הבקשה החזירה 200 ל־Dashboard, כלומר היציאה לא בוצעה.</a:t>
            </a:r>
          </a:p>
        </p:txBody>
      </p:sp>
      <p:sp>
        <p:nvSpPr>
          <p:cNvPr id="5" name="folio">
            <a:extLst xmlns:a="http://schemas.openxmlformats.org/drawingml/2006/main">
              <a:ext uri="{FF2B5EF4-FFF2-40B4-BE49-F238E27FC236}">
                <a16:creationId xmlns:a16="http://schemas.microsoft.com/office/drawing/2014/main" id="{E0DD10B4-5E5F-4CEA-8F12-C3F6F0C8EDA4}"/>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19 / 30</a:t>
            </a:r>
          </a:p>
        </p:txBody>
      </p:sp>
      <p:sp>
        <p:nvSpPr>
          <p:cNvPr id="6" name="footer">
            <a:extLst xmlns:a="http://schemas.openxmlformats.org/drawingml/2006/main">
              <a:ext uri="{FF2B5EF4-FFF2-40B4-BE49-F238E27FC236}">
                <a16:creationId xmlns:a16="http://schemas.microsoft.com/office/drawing/2014/main" id="{77533E4B-2B02-4671-A283-4256EB4DE8A8}"/>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298650038"/>
      </p:ext>
    </p:extLst>
  </p:cSld>
</p:sld>
</file>

<file path=ppt/slides/slide20.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8BCC0FE-5133-4863-8EC9-ABBF6844CF02}"/>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FD5FE2E5-E606-487A-9CD2-593F808FAC7B}"/>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בדיקות גבול לאורך הסיסמה</a:t>
            </a:r>
          </a:p>
        </p:txBody>
      </p:sp>
      <p:pic>
        <p:nvPicPr>
          <p:cNvPr id="3" name="">
            <a:extLst xmlns:a="http://schemas.openxmlformats.org/drawingml/2006/main">
              <a:ext uri="{FF2B5EF4-FFF2-40B4-BE49-F238E27FC236}">
                <a16:creationId xmlns:a16="http://schemas.microsoft.com/office/drawing/2014/main" id="{BA7BB59B-9C26-4845-9EB6-6E3C9B8FB293}"/>
              </a:ext>
            </a:extLst>
          </p:cNvPr>
          <p:cNvPicPr>
            <a:picLocks xmlns:a="http://schemas.openxmlformats.org/drawingml/2006/main" noChangeAspect="1"/>
          </p:cNvPicPr>
          <p:nvPr/>
        </p:nvPicPr>
        <p:blipFill>
          <a:blip xmlns:r="http://schemas.openxmlformats.org/officeDocument/2006/relationships" xmlns:a="http://schemas.openxmlformats.org/drawingml/2006/main" r:embed="R90729427b4544d9c"/>
          <a:stretch xmlns:a="http://schemas.openxmlformats.org/drawingml/2006/main"/>
        </p:blipFill>
        <p:spPr>
          <a:xfrm xmlns:a="http://schemas.openxmlformats.org/drawingml/2006/main">
            <a:off x="952500" y="2894845"/>
            <a:ext cx="13335000" cy="2258934"/>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E8C04F74-A65F-499F-B816-486E22DE0EED}"/>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בדקתי אורכים 0, 14, 15, 128 ו־129. ההרשמה קיבלה את גבולות המדיניות 15–128 ודחתה ערכים מחוץ לטווח.</a:t>
            </a:r>
          </a:p>
        </p:txBody>
      </p:sp>
      <p:sp>
        <p:nvSpPr>
          <p:cNvPr id="5" name="folio">
            <a:extLst xmlns:a="http://schemas.openxmlformats.org/drawingml/2006/main">
              <a:ext uri="{FF2B5EF4-FFF2-40B4-BE49-F238E27FC236}">
                <a16:creationId xmlns:a16="http://schemas.microsoft.com/office/drawing/2014/main" id="{297555AE-0917-4302-91A2-4ACE474440BC}"/>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20 / 30</a:t>
            </a:r>
          </a:p>
        </p:txBody>
      </p:sp>
      <p:sp>
        <p:nvSpPr>
          <p:cNvPr id="6" name="footer">
            <a:extLst xmlns:a="http://schemas.openxmlformats.org/drawingml/2006/main">
              <a:ext uri="{FF2B5EF4-FFF2-40B4-BE49-F238E27FC236}">
                <a16:creationId xmlns:a16="http://schemas.microsoft.com/office/drawing/2014/main" id="{6BE08459-0FA4-4759-AFC3-F13652675C07}"/>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288408938"/>
      </p:ext>
    </p:extLst>
  </p:cSld>
</p:sld>
</file>

<file path=ppt/slides/slide21.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A1D245E-230A-47EC-A054-9FB2739F5F39}"/>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5EC46D4D-5E90-4EB1-ACD6-01FA6D0DCAE9}"/>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כל הסיסמה משתתפת באימות</a:t>
            </a:r>
          </a:p>
        </p:txBody>
      </p:sp>
      <p:pic>
        <p:nvPicPr>
          <p:cNvPr id="3" name="">
            <a:extLst xmlns:a="http://schemas.openxmlformats.org/drawingml/2006/main">
              <a:ext uri="{FF2B5EF4-FFF2-40B4-BE49-F238E27FC236}">
                <a16:creationId xmlns:a16="http://schemas.microsoft.com/office/drawing/2014/main" id="{BEB7BFCC-8A32-4EFC-9428-EBC1030A124C}"/>
              </a:ext>
            </a:extLst>
          </p:cNvPr>
          <p:cNvPicPr>
            <a:picLocks xmlns:a="http://schemas.openxmlformats.org/drawingml/2006/main" noChangeAspect="1"/>
          </p:cNvPicPr>
          <p:nvPr/>
        </p:nvPicPr>
        <p:blipFill>
          <a:blip xmlns:r="http://schemas.openxmlformats.org/officeDocument/2006/relationships" xmlns:a="http://schemas.openxmlformats.org/drawingml/2006/main" r:embed="R78916269b73842ca"/>
          <a:stretch xmlns:a="http://schemas.openxmlformats.org/drawingml/2006/main"/>
        </p:blipFill>
        <p:spPr>
          <a:xfrm xmlns:a="http://schemas.openxmlformats.org/drawingml/2006/main">
            <a:off x="952500" y="2488633"/>
            <a:ext cx="13335000" cy="3071359"/>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4A64E0E9-8BF9-464A-84C3-C6CCFF5E7F9A}"/>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סיסמה של 128 תווים התקבלה. שינוי התו האחרון וקיצור ל־127 תווים נדחו, עבור חשבון הבדיקה הזה.</a:t>
            </a:r>
          </a:p>
        </p:txBody>
      </p:sp>
      <p:sp>
        <p:nvSpPr>
          <p:cNvPr id="5" name="folio">
            <a:extLst xmlns:a="http://schemas.openxmlformats.org/drawingml/2006/main">
              <a:ext uri="{FF2B5EF4-FFF2-40B4-BE49-F238E27FC236}">
                <a16:creationId xmlns:a16="http://schemas.microsoft.com/office/drawing/2014/main" id="{06F59278-C2CC-4D82-9A39-FD5D7622FF9D}"/>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21 / 30</a:t>
            </a:r>
          </a:p>
        </p:txBody>
      </p:sp>
      <p:sp>
        <p:nvSpPr>
          <p:cNvPr id="6" name="footer">
            <a:extLst xmlns:a="http://schemas.openxmlformats.org/drawingml/2006/main">
              <a:ext uri="{FF2B5EF4-FFF2-40B4-BE49-F238E27FC236}">
                <a16:creationId xmlns:a16="http://schemas.microsoft.com/office/drawing/2014/main" id="{E0DAB862-F324-41F0-8714-5A4C64DA831F}"/>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081563267"/>
      </p:ext>
    </p:extLst>
  </p:cSld>
</p:sld>
</file>

<file path=ppt/slides/slide22.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1A833C5-BB7A-41AF-8C0E-C67B06AECE95}"/>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F81380F2-E603-471A-9B84-9CA463DF8759}"/>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HTTPS ושרת יישום פנימי</a:t>
            </a:r>
          </a:p>
        </p:txBody>
      </p:sp>
      <p:pic>
        <p:nvPicPr>
          <p:cNvPr id="3" name="">
            <a:extLst xmlns:a="http://schemas.openxmlformats.org/drawingml/2006/main">
              <a:ext uri="{FF2B5EF4-FFF2-40B4-BE49-F238E27FC236}">
                <a16:creationId xmlns:a16="http://schemas.microsoft.com/office/drawing/2014/main" id="{658B63F3-9090-4953-A8CF-B9F179ECADE0}"/>
              </a:ext>
            </a:extLst>
          </p:cNvPr>
          <p:cNvPicPr>
            <a:picLocks xmlns:a="http://schemas.openxmlformats.org/drawingml/2006/main" noChangeAspect="1"/>
          </p:cNvPicPr>
          <p:nvPr/>
        </p:nvPicPr>
        <p:blipFill>
          <a:blip xmlns:r="http://schemas.openxmlformats.org/officeDocument/2006/relationships" xmlns:a="http://schemas.openxmlformats.org/drawingml/2006/main" r:embed="R7c4fc607ed0448e7"/>
          <a:stretch xmlns:a="http://schemas.openxmlformats.org/drawingml/2006/main"/>
        </p:blipFill>
        <p:spPr>
          <a:xfrm xmlns:a="http://schemas.openxmlformats.org/drawingml/2006/main">
            <a:off x="3024843" y="1857375"/>
            <a:ext cx="9190314"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0F8C864C-F857-4133-ADD7-350D40AF9ED4}"/>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Nginx מקבל את חיבור ה־HTTPS ומעביר את הבקשה ל־Gunicorn ב־127.0.0.1:8000. הצילום מתעד את תצורת ה־Reverse proxy.</a:t>
            </a:r>
          </a:p>
        </p:txBody>
      </p:sp>
      <p:sp>
        <p:nvSpPr>
          <p:cNvPr id="5" name="folio">
            <a:extLst xmlns:a="http://schemas.openxmlformats.org/drawingml/2006/main">
              <a:ext uri="{FF2B5EF4-FFF2-40B4-BE49-F238E27FC236}">
                <a16:creationId xmlns:a16="http://schemas.microsoft.com/office/drawing/2014/main" id="{AFC6892D-90A4-4217-A13C-5D3CC841F72B}"/>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22 / 30</a:t>
            </a:r>
          </a:p>
        </p:txBody>
      </p:sp>
      <p:sp>
        <p:nvSpPr>
          <p:cNvPr id="6" name="footer">
            <a:extLst xmlns:a="http://schemas.openxmlformats.org/drawingml/2006/main">
              <a:ext uri="{FF2B5EF4-FFF2-40B4-BE49-F238E27FC236}">
                <a16:creationId xmlns:a16="http://schemas.microsoft.com/office/drawing/2014/main" id="{B51E39CD-FE29-45A8-B6A6-797FF1CB4CDB}"/>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212025856"/>
      </p:ext>
    </p:extLst>
  </p:cSld>
</p:sld>
</file>

<file path=ppt/slides/slide23.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EA74BC5-8ED0-43B1-9340-0D01D2D4AB45}"/>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14D8A371-3EE4-4FDD-A2A0-2523EA663CCC}"/>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הקשחת TLS ובדיקה חוזרת</a:t>
            </a:r>
          </a:p>
        </p:txBody>
      </p:sp>
      <p:pic>
        <p:nvPicPr>
          <p:cNvPr id="3" name="">
            <a:extLst xmlns:a="http://schemas.openxmlformats.org/drawingml/2006/main">
              <a:ext uri="{FF2B5EF4-FFF2-40B4-BE49-F238E27FC236}">
                <a16:creationId xmlns:a16="http://schemas.microsoft.com/office/drawing/2014/main" id="{B935F6E3-67C1-4B52-B978-AA089EA18854}"/>
              </a:ext>
            </a:extLst>
          </p:cNvPr>
          <p:cNvPicPr>
            <a:picLocks xmlns:a="http://schemas.openxmlformats.org/drawingml/2006/main" noChangeAspect="1"/>
          </p:cNvPicPr>
          <p:nvPr/>
        </p:nvPicPr>
        <p:blipFill>
          <a:blip xmlns:r="http://schemas.openxmlformats.org/officeDocument/2006/relationships" xmlns:a="http://schemas.openxmlformats.org/drawingml/2006/main" r:embed="R8e79c0e14a6b4819"/>
          <a:stretch xmlns:a="http://schemas.openxmlformats.org/drawingml/2006/main"/>
        </p:blipFill>
        <p:spPr>
          <a:xfrm xmlns:a="http://schemas.openxmlformats.org/drawingml/2006/main">
            <a:off x="952500" y="2215368"/>
            <a:ext cx="13335000" cy="3617889"/>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384A6174-A2A3-419C-9A9B-73421412C50C}"/>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אימתתי תחביר וטענתי את Nginx מחדש. בסריקת Nmap החוזרת נשארו TLS 1.2 עם ECDHE ו־GCM או ChaCha20, וכן TLS 1.3.</a:t>
            </a:r>
          </a:p>
        </p:txBody>
      </p:sp>
      <p:sp>
        <p:nvSpPr>
          <p:cNvPr id="5" name="folio">
            <a:extLst xmlns:a="http://schemas.openxmlformats.org/drawingml/2006/main">
              <a:ext uri="{FF2B5EF4-FFF2-40B4-BE49-F238E27FC236}">
                <a16:creationId xmlns:a16="http://schemas.microsoft.com/office/drawing/2014/main" id="{14818402-5330-4E48-BD41-2A5B4B12491C}"/>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23 / 30</a:t>
            </a:r>
          </a:p>
        </p:txBody>
      </p:sp>
      <p:sp>
        <p:nvSpPr>
          <p:cNvPr id="6" name="footer">
            <a:extLst xmlns:a="http://schemas.openxmlformats.org/drawingml/2006/main">
              <a:ext uri="{FF2B5EF4-FFF2-40B4-BE49-F238E27FC236}">
                <a16:creationId xmlns:a16="http://schemas.microsoft.com/office/drawing/2014/main" id="{14518C96-34BF-468B-9E87-654411296AC5}"/>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350015288"/>
      </p:ext>
    </p:extLst>
  </p:cSld>
</p:sld>
</file>

<file path=ppt/slides/slide24.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6ECCBE0-F761-4A12-8311-B79601166909}"/>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C3CF2872-8425-4D85-B156-14A1C33DCF09}"/>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בדיקת הפורטים המאזינים</a:t>
            </a:r>
          </a:p>
        </p:txBody>
      </p:sp>
      <p:pic>
        <p:nvPicPr>
          <p:cNvPr id="3" name="">
            <a:extLst xmlns:a="http://schemas.openxmlformats.org/drawingml/2006/main">
              <a:ext uri="{FF2B5EF4-FFF2-40B4-BE49-F238E27FC236}">
                <a16:creationId xmlns:a16="http://schemas.microsoft.com/office/drawing/2014/main" id="{4F6567E7-E074-4D5F-9549-BECDF2D222BC}"/>
              </a:ext>
            </a:extLst>
          </p:cNvPr>
          <p:cNvPicPr>
            <a:picLocks xmlns:a="http://schemas.openxmlformats.org/drawingml/2006/main" noChangeAspect="1"/>
          </p:cNvPicPr>
          <p:nvPr/>
        </p:nvPicPr>
        <p:blipFill>
          <a:blip xmlns:r="http://schemas.openxmlformats.org/officeDocument/2006/relationships" xmlns:a="http://schemas.openxmlformats.org/drawingml/2006/main" r:embed="Rc9c5a8cca9ae49e5"/>
          <a:stretch xmlns:a="http://schemas.openxmlformats.org/drawingml/2006/main"/>
        </p:blipFill>
        <p:spPr>
          <a:xfrm xmlns:a="http://schemas.openxmlformats.org/drawingml/2006/main">
            <a:off x="952500" y="2225677"/>
            <a:ext cx="13335000" cy="3597271"/>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18BD6685-2A91-48E8-9B49-DF536126B058}"/>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Nginx מאזין בכתובת השרת על 443. שרת היישום מאזין על 8000 ב־Loopback, ללא האזנה ישירה בממשק הרשת.</a:t>
            </a:r>
          </a:p>
        </p:txBody>
      </p:sp>
      <p:sp>
        <p:nvSpPr>
          <p:cNvPr id="5" name="folio">
            <a:extLst xmlns:a="http://schemas.openxmlformats.org/drawingml/2006/main">
              <a:ext uri="{FF2B5EF4-FFF2-40B4-BE49-F238E27FC236}">
                <a16:creationId xmlns:a16="http://schemas.microsoft.com/office/drawing/2014/main" id="{A19512CA-67F4-47E6-88BA-65F141118A71}"/>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24 / 30</a:t>
            </a:r>
          </a:p>
        </p:txBody>
      </p:sp>
      <p:sp>
        <p:nvSpPr>
          <p:cNvPr id="6" name="footer">
            <a:extLst xmlns:a="http://schemas.openxmlformats.org/drawingml/2006/main">
              <a:ext uri="{FF2B5EF4-FFF2-40B4-BE49-F238E27FC236}">
                <a16:creationId xmlns:a16="http://schemas.microsoft.com/office/drawing/2014/main" id="{8A947D53-22A7-41D6-8F85-54ED776CBF4A}"/>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901046738"/>
      </p:ext>
    </p:extLst>
  </p:cSld>
</p:sld>
</file>

<file path=ppt/slides/slide25.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FCC8BDC-A00F-4F7C-90CC-D711E2EDD285}"/>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051229B2-440A-42D5-9B74-FA23F38ADCA5}"/>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Session שפג תוקפו נדחה</a:t>
            </a:r>
          </a:p>
        </p:txBody>
      </p:sp>
      <p:pic>
        <p:nvPicPr>
          <p:cNvPr id="3" name="">
            <a:extLst xmlns:a="http://schemas.openxmlformats.org/drawingml/2006/main">
              <a:ext uri="{FF2B5EF4-FFF2-40B4-BE49-F238E27FC236}">
                <a16:creationId xmlns:a16="http://schemas.microsoft.com/office/drawing/2014/main" id="{96AC5ECD-AA51-45E7-8F53-FED7D2F98FF4}"/>
              </a:ext>
            </a:extLst>
          </p:cNvPr>
          <p:cNvPicPr>
            <a:picLocks xmlns:a="http://schemas.openxmlformats.org/drawingml/2006/main" noChangeAspect="1"/>
          </p:cNvPicPr>
          <p:nvPr/>
        </p:nvPicPr>
        <p:blipFill>
          <a:blip xmlns:r="http://schemas.openxmlformats.org/officeDocument/2006/relationships" xmlns:a="http://schemas.openxmlformats.org/drawingml/2006/main" r:embed="R48d7aeefe7484ed7"/>
          <a:stretch xmlns:a="http://schemas.openxmlformats.org/drawingml/2006/main"/>
        </p:blipFill>
        <p:spPr>
          <a:xfrm xmlns:a="http://schemas.openxmlformats.org/drawingml/2006/main">
            <a:off x="952500" y="2773891"/>
            <a:ext cx="13335000" cy="2500842"/>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D6CC06CB-9BDC-493B-86F2-8B5A0537BF8E}"/>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בדיקה חוזרת לאחר כ־52 דקות החזירה 302 לכניסה. הקוד מגדיר תוקף של 30 דקות, אך לא מדדתי את רגע התפוגה המדויק.</a:t>
            </a:r>
          </a:p>
        </p:txBody>
      </p:sp>
      <p:sp>
        <p:nvSpPr>
          <p:cNvPr id="5" name="folio">
            <a:extLst xmlns:a="http://schemas.openxmlformats.org/drawingml/2006/main">
              <a:ext uri="{FF2B5EF4-FFF2-40B4-BE49-F238E27FC236}">
                <a16:creationId xmlns:a16="http://schemas.microsoft.com/office/drawing/2014/main" id="{F4C9D8EE-39FC-4053-90E6-5988ED6F9755}"/>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25 / 30</a:t>
            </a:r>
          </a:p>
        </p:txBody>
      </p:sp>
      <p:sp>
        <p:nvSpPr>
          <p:cNvPr id="6" name="footer">
            <a:extLst xmlns:a="http://schemas.openxmlformats.org/drawingml/2006/main">
              <a:ext uri="{FF2B5EF4-FFF2-40B4-BE49-F238E27FC236}">
                <a16:creationId xmlns:a16="http://schemas.microsoft.com/office/drawing/2014/main" id="{428558FB-CA69-461F-9217-E2D0E18C3DE7}"/>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833627816"/>
      </p:ext>
    </p:extLst>
  </p:cSld>
</p:sld>
</file>

<file path=ppt/slides/slide26.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39263C7-1132-47DA-8DAF-10B6B5F20296}"/>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9FEDB002-74A8-46D2-9D10-3F5A7991E3F4}"/>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בדיקת חשיפה של קבצים רגישים</a:t>
            </a:r>
          </a:p>
        </p:txBody>
      </p:sp>
      <p:pic>
        <p:nvPicPr>
          <p:cNvPr id="3" name="">
            <a:extLst xmlns:a="http://schemas.openxmlformats.org/drawingml/2006/main">
              <a:ext uri="{FF2B5EF4-FFF2-40B4-BE49-F238E27FC236}">
                <a16:creationId xmlns:a16="http://schemas.microsoft.com/office/drawing/2014/main" id="{16F0E6D8-EE17-49FF-BFC5-CFE0726DED07}"/>
              </a:ext>
            </a:extLst>
          </p:cNvPr>
          <p:cNvPicPr>
            <a:picLocks xmlns:a="http://schemas.openxmlformats.org/drawingml/2006/main" noChangeAspect="1"/>
          </p:cNvPicPr>
          <p:nvPr/>
        </p:nvPicPr>
        <p:blipFill>
          <a:blip xmlns:r="http://schemas.openxmlformats.org/officeDocument/2006/relationships" xmlns:a="http://schemas.openxmlformats.org/drawingml/2006/main" r:embed="R72e2509830f942f9"/>
          <a:stretch xmlns:a="http://schemas.openxmlformats.org/drawingml/2006/main"/>
        </p:blipFill>
        <p:spPr>
          <a:xfrm xmlns:a="http://schemas.openxmlformats.org/drawingml/2006/main">
            <a:off x="1812185" y="1857375"/>
            <a:ext cx="11615629"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51FE1CCE-58D6-4950-9B71-2A1420B4CCBC}"/>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נתיבי מסד הנתונים, קובצי Python ונתיבי גיבוי שנבדקו החזירו 404. דף הכניסה החזיר 200 כבדיקת ביקורת.</a:t>
            </a:r>
          </a:p>
        </p:txBody>
      </p:sp>
      <p:sp>
        <p:nvSpPr>
          <p:cNvPr id="5" name="folio">
            <a:extLst xmlns:a="http://schemas.openxmlformats.org/drawingml/2006/main">
              <a:ext uri="{FF2B5EF4-FFF2-40B4-BE49-F238E27FC236}">
                <a16:creationId xmlns:a16="http://schemas.microsoft.com/office/drawing/2014/main" id="{FFB121CE-AC8E-4321-98D5-80687DAA1DFE}"/>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26 / 30</a:t>
            </a:r>
          </a:p>
        </p:txBody>
      </p:sp>
      <p:sp>
        <p:nvSpPr>
          <p:cNvPr id="6" name="footer">
            <a:extLst xmlns:a="http://schemas.openxmlformats.org/drawingml/2006/main">
              <a:ext uri="{FF2B5EF4-FFF2-40B4-BE49-F238E27FC236}">
                <a16:creationId xmlns:a16="http://schemas.microsoft.com/office/drawing/2014/main" id="{C96FDCD5-D16E-444E-9443-0ECD1B1E4F6B}"/>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286448272"/>
      </p:ext>
    </p:extLst>
  </p:cSld>
</p:sld>
</file>

<file path=ppt/slides/slide27.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1DDC6F3-CF0B-447B-85D9-9C70EEBFA7DD}"/>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1C717CAB-7F57-4946-9AB3-827F0FA9C350}"/>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תיקון אתחול מסד הנתונים</a:t>
            </a:r>
          </a:p>
        </p:txBody>
      </p:sp>
      <p:pic>
        <p:nvPicPr>
          <p:cNvPr id="3" name="">
            <a:extLst xmlns:a="http://schemas.openxmlformats.org/drawingml/2006/main">
              <a:ext uri="{FF2B5EF4-FFF2-40B4-BE49-F238E27FC236}">
                <a16:creationId xmlns:a16="http://schemas.microsoft.com/office/drawing/2014/main" id="{097C3B98-1269-4483-B22F-BD131BD154B4}"/>
              </a:ext>
            </a:extLst>
          </p:cNvPr>
          <p:cNvPicPr>
            <a:picLocks xmlns:a="http://schemas.openxmlformats.org/drawingml/2006/main" noChangeAspect="1"/>
          </p:cNvPicPr>
          <p:nvPr/>
        </p:nvPicPr>
        <p:blipFill>
          <a:blip xmlns:r="http://schemas.openxmlformats.org/officeDocument/2006/relationships" xmlns:a="http://schemas.openxmlformats.org/drawingml/2006/main" r:embed="R4caf2be47d8f487e"/>
          <a:stretch xmlns:a="http://schemas.openxmlformats.org/drawingml/2006/main"/>
        </p:blipFill>
        <p:spPr>
          <a:xfrm xmlns:a="http://schemas.openxmlformats.org/drawingml/2006/main">
            <a:off x="1105784" y="1857375"/>
            <a:ext cx="13028432"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3CD1B6B9-95E1-4710-AC90-AA6DCE552EA8}"/>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השלמתי יצירה של טבלת sessions באתחול המסד. לאחר התיקון בדקתי תחביר, אתחול ושירות פעיל, ובהמשך כניסה ויציאה.</a:t>
            </a:r>
          </a:p>
        </p:txBody>
      </p:sp>
      <p:sp>
        <p:nvSpPr>
          <p:cNvPr id="5" name="folio">
            <a:extLst xmlns:a="http://schemas.openxmlformats.org/drawingml/2006/main">
              <a:ext uri="{FF2B5EF4-FFF2-40B4-BE49-F238E27FC236}">
                <a16:creationId xmlns:a16="http://schemas.microsoft.com/office/drawing/2014/main" id="{F1B7EC79-E42B-4932-AC90-A32F3A964ED4}"/>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27 / 30</a:t>
            </a:r>
          </a:p>
        </p:txBody>
      </p:sp>
      <p:sp>
        <p:nvSpPr>
          <p:cNvPr id="6" name="footer">
            <a:extLst xmlns:a="http://schemas.openxmlformats.org/drawingml/2006/main">
              <a:ext uri="{FF2B5EF4-FFF2-40B4-BE49-F238E27FC236}">
                <a16:creationId xmlns:a16="http://schemas.microsoft.com/office/drawing/2014/main" id="{D95EDDD9-DF1D-4465-AAFA-0A2F889818DE}"/>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264954476"/>
      </p:ext>
    </p:extLst>
  </p:cSld>
</p:sld>
</file>

<file path=ppt/slides/slide28.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A486501-220D-46A8-BDAB-B6359C9D223C}"/>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1477887C-C60B-433D-A558-3A0E5DCC7892}"/>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גיבוי האתר והשירותים</a:t>
            </a:r>
          </a:p>
        </p:txBody>
      </p:sp>
      <p:pic>
        <p:nvPicPr>
          <p:cNvPr id="3" name="">
            <a:extLst xmlns:a="http://schemas.openxmlformats.org/drawingml/2006/main">
              <a:ext uri="{FF2B5EF4-FFF2-40B4-BE49-F238E27FC236}">
                <a16:creationId xmlns:a16="http://schemas.microsoft.com/office/drawing/2014/main" id="{E901F5A5-4DA3-4173-8BF4-05BA08C712BE}"/>
              </a:ext>
            </a:extLst>
          </p:cNvPr>
          <p:cNvPicPr>
            <a:picLocks xmlns:a="http://schemas.openxmlformats.org/drawingml/2006/main" noChangeAspect="1"/>
          </p:cNvPicPr>
          <p:nvPr/>
        </p:nvPicPr>
        <p:blipFill>
          <a:blip xmlns:r="http://schemas.openxmlformats.org/officeDocument/2006/relationships" xmlns:a="http://schemas.openxmlformats.org/drawingml/2006/main" r:embed="R49629794c3a447b1"/>
          <a:stretch xmlns:a="http://schemas.openxmlformats.org/drawingml/2006/main"/>
        </p:blipFill>
        <p:spPr>
          <a:xfrm xmlns:a="http://schemas.openxmlformats.org/drawingml/2006/main">
            <a:off x="3009191" y="1857375"/>
            <a:ext cx="9221618"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8AB9F04E-1ED3-49E5-A25D-3E18A5131315}"/>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יצרתי חבילת גיבוי לאפליקציה, למסד ולהגדרות השירות. לאחר הגיבוי היישום חזר למצב active.</a:t>
            </a:r>
          </a:p>
        </p:txBody>
      </p:sp>
      <p:sp>
        <p:nvSpPr>
          <p:cNvPr id="5" name="folio">
            <a:extLst xmlns:a="http://schemas.openxmlformats.org/drawingml/2006/main">
              <a:ext uri="{FF2B5EF4-FFF2-40B4-BE49-F238E27FC236}">
                <a16:creationId xmlns:a16="http://schemas.microsoft.com/office/drawing/2014/main" id="{CF48FC44-8FE9-4BA4-996D-16E7544AD123}"/>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28 / 30</a:t>
            </a:r>
          </a:p>
        </p:txBody>
      </p:sp>
      <p:sp>
        <p:nvSpPr>
          <p:cNvPr id="6" name="footer">
            <a:extLst xmlns:a="http://schemas.openxmlformats.org/drawingml/2006/main">
              <a:ext uri="{FF2B5EF4-FFF2-40B4-BE49-F238E27FC236}">
                <a16:creationId xmlns:a16="http://schemas.microsoft.com/office/drawing/2014/main" id="{144133ED-C7DC-4196-B6D8-C18712B7F809}"/>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033653620"/>
      </p:ext>
    </p:extLst>
  </p:cSld>
</p:sld>
</file>

<file path=ppt/slides/slide29.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0E8AB37-4969-4D6E-97BE-4F367DE3290C}"/>
              </a:ext>
            </a:extLst>
          </p:cNvPr>
          <p:cNvSpPr>
            <a:spLocks xmlns:a="http://schemas.openxmlformats.org/drawingml/2006/main" noGrp="1"/>
          </p:cNvSpPr>
          <p:nvPr/>
        </p:nvSpPr>
        <p:spPr>
          <a:xfrm xmlns:a="http://schemas.openxmlformats.org/drawingml/2006/main">
            <a:off x="685800" y="428625"/>
            <a:ext cx="1386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C3A576"/>
                </a:solidFill>
                <a:latin typeface="DejaVu Sans"/>
                <a:ea typeface="DejaVu Sans"/>
                <a:cs typeface="DejaVu Sans"/>
              </a:defRPr>
            </a:defPPr>
            <a:lvl1pPr algn="r">
              <a:defRPr sz="1650" b="1">
                <a:solidFill>
                  <a:srgbClr val="C3A576"/>
                </a:solidFill>
                <a:latin typeface="DejaVu Sans"/>
                <a:ea typeface="DejaVu Sans"/>
                <a:cs typeface="DejaVu Sans"/>
              </a:defRPr>
            </a:lvl1pPr>
            <a:lvl2pPr algn="r">
              <a:defRPr sz="1650" b="1">
                <a:solidFill>
                  <a:srgbClr val="C3A576"/>
                </a:solidFill>
                <a:latin typeface="DejaVu Sans"/>
                <a:ea typeface="DejaVu Sans"/>
                <a:cs typeface="DejaVu Sans"/>
              </a:defRPr>
            </a:lvl2pPr>
            <a:lvl3pPr algn="r">
              <a:defRPr sz="1650" b="1">
                <a:solidFill>
                  <a:srgbClr val="C3A576"/>
                </a:solidFill>
                <a:latin typeface="DejaVu Sans"/>
                <a:ea typeface="DejaVu Sans"/>
                <a:cs typeface="DejaVu Sans"/>
              </a:defRPr>
            </a:lvl3pPr>
            <a:lvl4pPr algn="r">
              <a:defRPr sz="1650" b="1">
                <a:solidFill>
                  <a:srgbClr val="C3A576"/>
                </a:solidFill>
                <a:latin typeface="DejaVu Sans"/>
                <a:ea typeface="DejaVu Sans"/>
                <a:cs typeface="DejaVu Sans"/>
              </a:defRPr>
            </a:lvl4pPr>
            <a:lvl5pPr algn="r">
              <a:defRPr sz="1650" b="1">
                <a:solidFill>
                  <a:srgbClr val="C3A576"/>
                </a:solidFill>
                <a:latin typeface="DejaVu Sans"/>
                <a:ea typeface="DejaVu Sans"/>
                <a:cs typeface="DejaVu Sans"/>
              </a:defRPr>
            </a:lvl5pPr>
            <a:lvl6pPr algn="r">
              <a:defRPr sz="1650" b="1">
                <a:solidFill>
                  <a:srgbClr val="C3A576"/>
                </a:solidFill>
                <a:latin typeface="DejaVu Sans"/>
                <a:ea typeface="DejaVu Sans"/>
                <a:cs typeface="DejaVu Sans"/>
              </a:defRPr>
            </a:lvl6pPr>
            <a:lvl7pPr algn="r">
              <a:defRPr sz="1650" b="1">
                <a:solidFill>
                  <a:srgbClr val="C3A576"/>
                </a:solidFill>
                <a:latin typeface="DejaVu Sans"/>
                <a:ea typeface="DejaVu Sans"/>
                <a:cs typeface="DejaVu Sans"/>
              </a:defRPr>
            </a:lvl7pPr>
            <a:lvl8pPr algn="r">
              <a:defRPr sz="1650" b="1">
                <a:solidFill>
                  <a:srgbClr val="C3A576"/>
                </a:solidFill>
                <a:latin typeface="DejaVu Sans"/>
                <a:ea typeface="DejaVu Sans"/>
                <a:cs typeface="DejaVu Sans"/>
              </a:defRPr>
            </a:lvl8pPr>
            <a:lvl9pPr algn="r">
              <a:defRPr sz="1650" b="1">
                <a:solidFill>
                  <a:srgbClr val="C3A576"/>
                </a:solidFill>
                <a:latin typeface="DejaVu Sans"/>
                <a:ea typeface="DejaVu Sans"/>
                <a:cs typeface="DejaVu Sans"/>
              </a:defRPr>
            </a:lvl9pPr>
          </a:lstStyle>
          <a:p xmlns:a="http://schemas.openxmlformats.org/drawingml/2006/main">
            <a:pPr algn="r">
              <a:defRPr sz="1650" b="1">
                <a:solidFill>
                  <a:srgbClr val="C3A576"/>
                </a:solidFill>
                <a:latin typeface="DejaVu Sans"/>
                <a:ea typeface="DejaVu Sans"/>
                <a:cs typeface="DejaVu Sans"/>
              </a:defRPr>
            </a:pPr>
            <a:r>
              <a:rPr sz="1650" b="1">
                <a:solidFill>
                  <a:srgbClr val="C3A576"/>
                </a:solidFill>
                <a:latin typeface="DejaVu Sans"/>
                <a:ea typeface="DejaVu Sans"/>
                <a:cs typeface="DejaVu Sans"/>
              </a:rPr>
              <a:t>PT WEB LAB</a:t>
            </a:r>
          </a:p>
        </p:txBody>
      </p:sp>
      <p:sp>
        <p:nvSpPr>
          <p:cNvPr id="2" name="headline">
            <a:extLst xmlns:a="http://schemas.openxmlformats.org/drawingml/2006/main">
              <a:ext uri="{FF2B5EF4-FFF2-40B4-BE49-F238E27FC236}">
                <a16:creationId xmlns:a16="http://schemas.microsoft.com/office/drawing/2014/main" id="{B4C8508C-5ACB-48B9-B446-DA7A62C821F8}"/>
              </a:ext>
            </a:extLst>
          </p:cNvPr>
          <p:cNvSpPr>
            <a:spLocks xmlns:a="http://schemas.openxmlformats.org/drawingml/2006/main" noGrp="1"/>
          </p:cNvSpPr>
          <p:nvPr/>
        </p:nvSpPr>
        <p:spPr>
          <a:xfrm xmlns:a="http://schemas.openxmlformats.org/drawingml/2006/main">
            <a:off x="685800" y="885825"/>
            <a:ext cx="1386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600" b="1">
                <a:solidFill>
                  <a:srgbClr val="F5F4EF"/>
                </a:solidFill>
                <a:latin typeface="DejaVu Sans"/>
                <a:ea typeface="DejaVu Sans"/>
                <a:cs typeface="DejaVu Sans"/>
              </a:defRPr>
            </a:defPPr>
            <a:lvl1pPr algn="r">
              <a:defRPr sz="3600" b="1">
                <a:solidFill>
                  <a:srgbClr val="F5F4EF"/>
                </a:solidFill>
                <a:latin typeface="DejaVu Sans"/>
                <a:ea typeface="DejaVu Sans"/>
                <a:cs typeface="DejaVu Sans"/>
              </a:defRPr>
            </a:lvl1pPr>
            <a:lvl2pPr algn="r">
              <a:defRPr sz="3600" b="1">
                <a:solidFill>
                  <a:srgbClr val="F5F4EF"/>
                </a:solidFill>
                <a:latin typeface="DejaVu Sans"/>
                <a:ea typeface="DejaVu Sans"/>
                <a:cs typeface="DejaVu Sans"/>
              </a:defRPr>
            </a:lvl2pPr>
            <a:lvl3pPr algn="r">
              <a:defRPr sz="3600" b="1">
                <a:solidFill>
                  <a:srgbClr val="F5F4EF"/>
                </a:solidFill>
                <a:latin typeface="DejaVu Sans"/>
                <a:ea typeface="DejaVu Sans"/>
                <a:cs typeface="DejaVu Sans"/>
              </a:defRPr>
            </a:lvl3pPr>
            <a:lvl4pPr algn="r">
              <a:defRPr sz="3600" b="1">
                <a:solidFill>
                  <a:srgbClr val="F5F4EF"/>
                </a:solidFill>
                <a:latin typeface="DejaVu Sans"/>
                <a:ea typeface="DejaVu Sans"/>
                <a:cs typeface="DejaVu Sans"/>
              </a:defRPr>
            </a:lvl4pPr>
            <a:lvl5pPr algn="r">
              <a:defRPr sz="3600" b="1">
                <a:solidFill>
                  <a:srgbClr val="F5F4EF"/>
                </a:solidFill>
                <a:latin typeface="DejaVu Sans"/>
                <a:ea typeface="DejaVu Sans"/>
                <a:cs typeface="DejaVu Sans"/>
              </a:defRPr>
            </a:lvl5pPr>
            <a:lvl6pPr algn="r">
              <a:defRPr sz="3600" b="1">
                <a:solidFill>
                  <a:srgbClr val="F5F4EF"/>
                </a:solidFill>
                <a:latin typeface="DejaVu Sans"/>
                <a:ea typeface="DejaVu Sans"/>
                <a:cs typeface="DejaVu Sans"/>
              </a:defRPr>
            </a:lvl6pPr>
            <a:lvl7pPr algn="r">
              <a:defRPr sz="3600" b="1">
                <a:solidFill>
                  <a:srgbClr val="F5F4EF"/>
                </a:solidFill>
                <a:latin typeface="DejaVu Sans"/>
                <a:ea typeface="DejaVu Sans"/>
                <a:cs typeface="DejaVu Sans"/>
              </a:defRPr>
            </a:lvl7pPr>
            <a:lvl8pPr algn="r">
              <a:defRPr sz="3600" b="1">
                <a:solidFill>
                  <a:srgbClr val="F5F4EF"/>
                </a:solidFill>
                <a:latin typeface="DejaVu Sans"/>
                <a:ea typeface="DejaVu Sans"/>
                <a:cs typeface="DejaVu Sans"/>
              </a:defRPr>
            </a:lvl8pPr>
            <a:lvl9pPr algn="r">
              <a:defRPr sz="3600" b="1">
                <a:solidFill>
                  <a:srgbClr val="F5F4EF"/>
                </a:solidFill>
                <a:latin typeface="DejaVu Sans"/>
                <a:ea typeface="DejaVu Sans"/>
                <a:cs typeface="DejaVu Sans"/>
              </a:defRPr>
            </a:lvl9pPr>
          </a:lstStyle>
          <a:p xmlns:a="http://schemas.openxmlformats.org/drawingml/2006/main">
            <a:pPr algn="r" rtl="1">
              <a:defRPr sz="3600" b="1">
                <a:solidFill>
                  <a:srgbClr val="F5F4EF"/>
                </a:solidFill>
                <a:latin typeface="DejaVu Sans"/>
                <a:ea typeface="DejaVu Sans"/>
                <a:cs typeface="DejaVu Sans"/>
              </a:defRPr>
            </a:pPr>
            <a:r>
              <a:rPr sz="3600" b="1" lang="he-IL">
                <a:solidFill>
                  <a:srgbClr val="F5F4EF"/>
                </a:solidFill>
                <a:latin typeface="DejaVu Sans"/>
                <a:ea typeface="DejaVu Sans"/>
                <a:cs typeface="DejaVu Sans"/>
              </a:rPr>
              <a:t>עותק גיבוי במחשב המארח</a:t>
            </a:r>
          </a:p>
        </p:txBody>
      </p:sp>
      <p:pic>
        <p:nvPicPr>
          <p:cNvPr id="3" name="">
            <a:extLst xmlns:a="http://schemas.openxmlformats.org/drawingml/2006/main">
              <a:ext uri="{FF2B5EF4-FFF2-40B4-BE49-F238E27FC236}">
                <a16:creationId xmlns:a16="http://schemas.microsoft.com/office/drawing/2014/main" id="{1D770EFE-6DA0-452C-BDA4-E3041218172B}"/>
              </a:ext>
            </a:extLst>
          </p:cNvPr>
          <p:cNvPicPr>
            <a:picLocks xmlns:a="http://schemas.openxmlformats.org/drawingml/2006/main" noChangeAspect="1"/>
          </p:cNvPicPr>
          <p:nvPr/>
        </p:nvPicPr>
        <p:blipFill>
          <a:blip xmlns:r="http://schemas.openxmlformats.org/officeDocument/2006/relationships" xmlns:a="http://schemas.openxmlformats.org/drawingml/2006/main" r:embed="R931a779e14cb4008"/>
          <a:stretch xmlns:a="http://schemas.openxmlformats.org/drawingml/2006/main"/>
        </p:blipFill>
        <p:spPr>
          <a:xfrm xmlns:a="http://schemas.openxmlformats.org/drawingml/2006/main">
            <a:off x="4007138" y="1857375"/>
            <a:ext cx="7225723" cy="4333875"/>
          </a:xfrm>
          <a:prstGeom xmlns:a="http://schemas.openxmlformats.org/drawingml/2006/main" prst="rect">
            <a:avLst/>
          </a:prstGeom>
        </p:spPr>
      </p:pic>
      <p:sp>
        <p:nvSpPr>
          <p:cNvPr id="4" name="evidence-explanation">
            <a:extLst xmlns:a="http://schemas.openxmlformats.org/drawingml/2006/main">
              <a:ext uri="{FF2B5EF4-FFF2-40B4-BE49-F238E27FC236}">
                <a16:creationId xmlns:a16="http://schemas.microsoft.com/office/drawing/2014/main" id="{A589651C-939B-438F-AD84-BDAB1AC63D10}"/>
              </a:ext>
            </a:extLst>
          </p:cNvPr>
          <p:cNvSpPr>
            <a:spLocks xmlns:a="http://schemas.openxmlformats.org/drawingml/2006/main" noGrp="1"/>
          </p:cNvSpPr>
          <p:nvPr/>
        </p:nvSpPr>
        <p:spPr>
          <a:xfrm xmlns:a="http://schemas.openxmlformats.org/drawingml/2006/main">
            <a:off x="952500" y="6657975"/>
            <a:ext cx="1333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400" b="0">
                <a:solidFill>
                  <a:srgbClr val="CAD4DC"/>
                </a:solidFill>
                <a:latin typeface="DejaVu Sans"/>
                <a:ea typeface="DejaVu Sans"/>
                <a:cs typeface="DejaVu Sans"/>
              </a:defRPr>
            </a:defPPr>
            <a:lvl1pPr algn="r">
              <a:defRPr sz="2400" b="0">
                <a:solidFill>
                  <a:srgbClr val="CAD4DC"/>
                </a:solidFill>
                <a:latin typeface="DejaVu Sans"/>
                <a:ea typeface="DejaVu Sans"/>
                <a:cs typeface="DejaVu Sans"/>
              </a:defRPr>
            </a:lvl1pPr>
            <a:lvl2pPr algn="r">
              <a:defRPr sz="2400" b="0">
                <a:solidFill>
                  <a:srgbClr val="CAD4DC"/>
                </a:solidFill>
                <a:latin typeface="DejaVu Sans"/>
                <a:ea typeface="DejaVu Sans"/>
                <a:cs typeface="DejaVu Sans"/>
              </a:defRPr>
            </a:lvl2pPr>
            <a:lvl3pPr algn="r">
              <a:defRPr sz="2400" b="0">
                <a:solidFill>
                  <a:srgbClr val="CAD4DC"/>
                </a:solidFill>
                <a:latin typeface="DejaVu Sans"/>
                <a:ea typeface="DejaVu Sans"/>
                <a:cs typeface="DejaVu Sans"/>
              </a:defRPr>
            </a:lvl3pPr>
            <a:lvl4pPr algn="r">
              <a:defRPr sz="2400" b="0">
                <a:solidFill>
                  <a:srgbClr val="CAD4DC"/>
                </a:solidFill>
                <a:latin typeface="DejaVu Sans"/>
                <a:ea typeface="DejaVu Sans"/>
                <a:cs typeface="DejaVu Sans"/>
              </a:defRPr>
            </a:lvl4pPr>
            <a:lvl5pPr algn="r">
              <a:defRPr sz="2400" b="0">
                <a:solidFill>
                  <a:srgbClr val="CAD4DC"/>
                </a:solidFill>
                <a:latin typeface="DejaVu Sans"/>
                <a:ea typeface="DejaVu Sans"/>
                <a:cs typeface="DejaVu Sans"/>
              </a:defRPr>
            </a:lvl5pPr>
            <a:lvl6pPr algn="r">
              <a:defRPr sz="2400" b="0">
                <a:solidFill>
                  <a:srgbClr val="CAD4DC"/>
                </a:solidFill>
                <a:latin typeface="DejaVu Sans"/>
                <a:ea typeface="DejaVu Sans"/>
                <a:cs typeface="DejaVu Sans"/>
              </a:defRPr>
            </a:lvl6pPr>
            <a:lvl7pPr algn="r">
              <a:defRPr sz="2400" b="0">
                <a:solidFill>
                  <a:srgbClr val="CAD4DC"/>
                </a:solidFill>
                <a:latin typeface="DejaVu Sans"/>
                <a:ea typeface="DejaVu Sans"/>
                <a:cs typeface="DejaVu Sans"/>
              </a:defRPr>
            </a:lvl7pPr>
            <a:lvl8pPr algn="r">
              <a:defRPr sz="2400" b="0">
                <a:solidFill>
                  <a:srgbClr val="CAD4DC"/>
                </a:solidFill>
                <a:latin typeface="DejaVu Sans"/>
                <a:ea typeface="DejaVu Sans"/>
                <a:cs typeface="DejaVu Sans"/>
              </a:defRPr>
            </a:lvl8pPr>
            <a:lvl9pPr algn="r">
              <a:defRPr sz="2400" b="0">
                <a:solidFill>
                  <a:srgbClr val="CAD4DC"/>
                </a:solidFill>
                <a:latin typeface="DejaVu Sans"/>
                <a:ea typeface="DejaVu Sans"/>
                <a:cs typeface="DejaVu Sans"/>
              </a:defRPr>
            </a:lvl9pPr>
          </a:lstStyle>
          <a:p xmlns:a="http://schemas.openxmlformats.org/drawingml/2006/main">
            <a:pPr algn="r" rtl="1">
              <a:defRPr sz="2400" b="0">
                <a:solidFill>
                  <a:srgbClr val="CAD4DC"/>
                </a:solidFill>
                <a:latin typeface="DejaVu Sans"/>
                <a:ea typeface="DejaVu Sans"/>
                <a:cs typeface="DejaVu Sans"/>
              </a:defRPr>
            </a:pPr>
            <a:r>
              <a:rPr sz="2400" b="0" lang="he-IL">
                <a:solidFill>
                  <a:srgbClr val="CAD4DC"/>
                </a:solidFill>
                <a:latin typeface="DejaVu Sans"/>
                <a:ea typeface="DejaVu Sans"/>
                <a:cs typeface="DejaVu Sans"/>
              </a:rPr>
              <a:t>העברתי חבילה הכוללת ארכיון אתר, הגדרות OPNsense ומידע לשחזור למחשב המארח. תרגיל שחזור מלא עדיין נותר לאימות.</a:t>
            </a:r>
          </a:p>
        </p:txBody>
      </p:sp>
      <p:sp>
        <p:nvSpPr>
          <p:cNvPr id="5" name="folio">
            <a:extLst xmlns:a="http://schemas.openxmlformats.org/drawingml/2006/main">
              <a:ext uri="{FF2B5EF4-FFF2-40B4-BE49-F238E27FC236}">
                <a16:creationId xmlns:a16="http://schemas.microsoft.com/office/drawing/2014/main" id="{E91AE233-4E16-4E14-8836-4A3BE4FB982A}"/>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29 / 30</a:t>
            </a:r>
          </a:p>
        </p:txBody>
      </p:sp>
      <p:sp>
        <p:nvSpPr>
          <p:cNvPr id="6" name="footer">
            <a:extLst xmlns:a="http://schemas.openxmlformats.org/drawingml/2006/main">
              <a:ext uri="{FF2B5EF4-FFF2-40B4-BE49-F238E27FC236}">
                <a16:creationId xmlns:a16="http://schemas.microsoft.com/office/drawing/2014/main" id="{7F0494FA-4598-4A88-A6BC-303FC89B5859}"/>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901300102"/>
      </p:ext>
    </p:extLst>
  </p:cSld>
</p:sld>
</file>

<file path=ppt/slides/slide30.xml><?xml version="1.0" encoding="utf-8"?>
<p:sld xmlns:p="http://schemas.openxmlformats.org/presentationml/2006/main">
  <p:cSld>
    <p:bg>
      <p:bgPr>
        <a:solidFill xmlns:a="http://schemas.openxmlformats.org/drawingml/2006/main">
          <a:srgbClr val="09111E"/>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877A02-B904-4563-8AFB-191ABE90D41A}"/>
              </a:ext>
            </a:extLst>
          </p:cNvPr>
          <p:cNvPicPr>
            <a:picLocks xmlns:a="http://schemas.openxmlformats.org/drawingml/2006/main" noChangeAspect="1"/>
          </p:cNvPicPr>
          <p:nvPr/>
        </p:nvPicPr>
        <p:blipFill>
          <a:blip xmlns:r="http://schemas.openxmlformats.org/officeDocument/2006/relationships" xmlns:a="http://schemas.openxmlformats.org/drawingml/2006/main" r:embed="R57068c41bb994c11"/>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eyebrow">
            <a:extLst xmlns:a="http://schemas.openxmlformats.org/drawingml/2006/main">
              <a:ext uri="{FF2B5EF4-FFF2-40B4-BE49-F238E27FC236}">
                <a16:creationId xmlns:a16="http://schemas.microsoft.com/office/drawing/2014/main" id="{966249B0-CAAC-4C3B-9003-09932B72E620}"/>
              </a:ext>
            </a:extLst>
          </p:cNvPr>
          <p:cNvSpPr>
            <a:spLocks xmlns:a="http://schemas.openxmlformats.org/drawingml/2006/main" noGrp="1"/>
          </p:cNvSpPr>
          <p:nvPr/>
        </p:nvSpPr>
        <p:spPr>
          <a:xfrm xmlns:a="http://schemas.openxmlformats.org/drawingml/2006/main">
            <a:off x="6191250" y="1571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75" b="1">
                <a:solidFill>
                  <a:srgbClr val="C3A576"/>
                </a:solidFill>
                <a:latin typeface="DejaVu Sans"/>
                <a:ea typeface="DejaVu Sans"/>
                <a:cs typeface="DejaVu Sans"/>
              </a:defRPr>
            </a:defPPr>
            <a:lvl1pPr algn="r">
              <a:defRPr sz="1875" b="1">
                <a:solidFill>
                  <a:srgbClr val="C3A576"/>
                </a:solidFill>
                <a:latin typeface="DejaVu Sans"/>
                <a:ea typeface="DejaVu Sans"/>
                <a:cs typeface="DejaVu Sans"/>
              </a:defRPr>
            </a:lvl1pPr>
            <a:lvl2pPr algn="r">
              <a:defRPr sz="1875" b="1">
                <a:solidFill>
                  <a:srgbClr val="C3A576"/>
                </a:solidFill>
                <a:latin typeface="DejaVu Sans"/>
                <a:ea typeface="DejaVu Sans"/>
                <a:cs typeface="DejaVu Sans"/>
              </a:defRPr>
            </a:lvl2pPr>
            <a:lvl3pPr algn="r">
              <a:defRPr sz="1875" b="1">
                <a:solidFill>
                  <a:srgbClr val="C3A576"/>
                </a:solidFill>
                <a:latin typeface="DejaVu Sans"/>
                <a:ea typeface="DejaVu Sans"/>
                <a:cs typeface="DejaVu Sans"/>
              </a:defRPr>
            </a:lvl3pPr>
            <a:lvl4pPr algn="r">
              <a:defRPr sz="1875" b="1">
                <a:solidFill>
                  <a:srgbClr val="C3A576"/>
                </a:solidFill>
                <a:latin typeface="DejaVu Sans"/>
                <a:ea typeface="DejaVu Sans"/>
                <a:cs typeface="DejaVu Sans"/>
              </a:defRPr>
            </a:lvl4pPr>
            <a:lvl5pPr algn="r">
              <a:defRPr sz="1875" b="1">
                <a:solidFill>
                  <a:srgbClr val="C3A576"/>
                </a:solidFill>
                <a:latin typeface="DejaVu Sans"/>
                <a:ea typeface="DejaVu Sans"/>
                <a:cs typeface="DejaVu Sans"/>
              </a:defRPr>
            </a:lvl5pPr>
            <a:lvl6pPr algn="r">
              <a:defRPr sz="1875" b="1">
                <a:solidFill>
                  <a:srgbClr val="C3A576"/>
                </a:solidFill>
                <a:latin typeface="DejaVu Sans"/>
                <a:ea typeface="DejaVu Sans"/>
                <a:cs typeface="DejaVu Sans"/>
              </a:defRPr>
            </a:lvl6pPr>
            <a:lvl7pPr algn="r">
              <a:defRPr sz="1875" b="1">
                <a:solidFill>
                  <a:srgbClr val="C3A576"/>
                </a:solidFill>
                <a:latin typeface="DejaVu Sans"/>
                <a:ea typeface="DejaVu Sans"/>
                <a:cs typeface="DejaVu Sans"/>
              </a:defRPr>
            </a:lvl7pPr>
            <a:lvl8pPr algn="r">
              <a:defRPr sz="1875" b="1">
                <a:solidFill>
                  <a:srgbClr val="C3A576"/>
                </a:solidFill>
                <a:latin typeface="DejaVu Sans"/>
                <a:ea typeface="DejaVu Sans"/>
                <a:cs typeface="DejaVu Sans"/>
              </a:defRPr>
            </a:lvl8pPr>
            <a:lvl9pPr algn="r">
              <a:defRPr sz="1875" b="1">
                <a:solidFill>
                  <a:srgbClr val="C3A576"/>
                </a:solidFill>
                <a:latin typeface="DejaVu Sans"/>
                <a:ea typeface="DejaVu Sans"/>
                <a:cs typeface="DejaVu Sans"/>
              </a:defRPr>
            </a:lvl9pPr>
          </a:lstStyle>
          <a:p xmlns:a="http://schemas.openxmlformats.org/drawingml/2006/main">
            <a:pPr algn="r" rtl="1">
              <a:defRPr sz="1875" b="1">
                <a:solidFill>
                  <a:srgbClr val="C3A576"/>
                </a:solidFill>
                <a:latin typeface="DejaVu Sans"/>
                <a:ea typeface="DejaVu Sans"/>
                <a:cs typeface="DejaVu Sans"/>
              </a:defRPr>
            </a:pPr>
            <a:r>
              <a:rPr sz="1875" b="1" lang="he-IL">
                <a:solidFill>
                  <a:srgbClr val="C3A576"/>
                </a:solidFill>
                <a:latin typeface="DejaVu Sans"/>
                <a:ea typeface="DejaVu Sans"/>
                <a:cs typeface="DejaVu Sans"/>
              </a:rPr>
              <a:t>איתי בכור</a:t>
            </a:r>
          </a:p>
        </p:txBody>
      </p:sp>
      <p:sp>
        <p:nvSpPr>
          <p:cNvPr id="3" name="headline">
            <a:extLst xmlns:a="http://schemas.openxmlformats.org/drawingml/2006/main">
              <a:ext uri="{FF2B5EF4-FFF2-40B4-BE49-F238E27FC236}">
                <a16:creationId xmlns:a16="http://schemas.microsoft.com/office/drawing/2014/main" id="{5440C7D3-5A0D-4469-A8CE-A1D4201D33EB}"/>
              </a:ext>
            </a:extLst>
          </p:cNvPr>
          <p:cNvSpPr>
            <a:spLocks xmlns:a="http://schemas.openxmlformats.org/drawingml/2006/main" noGrp="1"/>
          </p:cNvSpPr>
          <p:nvPr/>
        </p:nvSpPr>
        <p:spPr>
          <a:xfrm xmlns:a="http://schemas.openxmlformats.org/drawingml/2006/main">
            <a:off x="5905500" y="2667000"/>
            <a:ext cx="8382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4575" b="1">
                <a:solidFill>
                  <a:srgbClr val="F5F4EF"/>
                </a:solidFill>
                <a:latin typeface="DejaVu Sans"/>
                <a:ea typeface="DejaVu Sans"/>
                <a:cs typeface="DejaVu Sans"/>
              </a:defRPr>
            </a:defPPr>
            <a:lvl1pPr algn="r">
              <a:defRPr sz="4575" b="1">
                <a:solidFill>
                  <a:srgbClr val="F5F4EF"/>
                </a:solidFill>
                <a:latin typeface="DejaVu Sans"/>
                <a:ea typeface="DejaVu Sans"/>
                <a:cs typeface="DejaVu Sans"/>
              </a:defRPr>
            </a:lvl1pPr>
            <a:lvl2pPr algn="r">
              <a:defRPr sz="4575" b="1">
                <a:solidFill>
                  <a:srgbClr val="F5F4EF"/>
                </a:solidFill>
                <a:latin typeface="DejaVu Sans"/>
                <a:ea typeface="DejaVu Sans"/>
                <a:cs typeface="DejaVu Sans"/>
              </a:defRPr>
            </a:lvl2pPr>
            <a:lvl3pPr algn="r">
              <a:defRPr sz="4575" b="1">
                <a:solidFill>
                  <a:srgbClr val="F5F4EF"/>
                </a:solidFill>
                <a:latin typeface="DejaVu Sans"/>
                <a:ea typeface="DejaVu Sans"/>
                <a:cs typeface="DejaVu Sans"/>
              </a:defRPr>
            </a:lvl3pPr>
            <a:lvl4pPr algn="r">
              <a:defRPr sz="4575" b="1">
                <a:solidFill>
                  <a:srgbClr val="F5F4EF"/>
                </a:solidFill>
                <a:latin typeface="DejaVu Sans"/>
                <a:ea typeface="DejaVu Sans"/>
                <a:cs typeface="DejaVu Sans"/>
              </a:defRPr>
            </a:lvl4pPr>
            <a:lvl5pPr algn="r">
              <a:defRPr sz="4575" b="1">
                <a:solidFill>
                  <a:srgbClr val="F5F4EF"/>
                </a:solidFill>
                <a:latin typeface="DejaVu Sans"/>
                <a:ea typeface="DejaVu Sans"/>
                <a:cs typeface="DejaVu Sans"/>
              </a:defRPr>
            </a:lvl5pPr>
            <a:lvl6pPr algn="r">
              <a:defRPr sz="4575" b="1">
                <a:solidFill>
                  <a:srgbClr val="F5F4EF"/>
                </a:solidFill>
                <a:latin typeface="DejaVu Sans"/>
                <a:ea typeface="DejaVu Sans"/>
                <a:cs typeface="DejaVu Sans"/>
              </a:defRPr>
            </a:lvl6pPr>
            <a:lvl7pPr algn="r">
              <a:defRPr sz="4575" b="1">
                <a:solidFill>
                  <a:srgbClr val="F5F4EF"/>
                </a:solidFill>
                <a:latin typeface="DejaVu Sans"/>
                <a:ea typeface="DejaVu Sans"/>
                <a:cs typeface="DejaVu Sans"/>
              </a:defRPr>
            </a:lvl7pPr>
            <a:lvl8pPr algn="r">
              <a:defRPr sz="4575" b="1">
                <a:solidFill>
                  <a:srgbClr val="F5F4EF"/>
                </a:solidFill>
                <a:latin typeface="DejaVu Sans"/>
                <a:ea typeface="DejaVu Sans"/>
                <a:cs typeface="DejaVu Sans"/>
              </a:defRPr>
            </a:lvl8pPr>
            <a:lvl9pPr algn="r">
              <a:defRPr sz="4575" b="1">
                <a:solidFill>
                  <a:srgbClr val="F5F4EF"/>
                </a:solidFill>
                <a:latin typeface="DejaVu Sans"/>
                <a:ea typeface="DejaVu Sans"/>
                <a:cs typeface="DejaVu Sans"/>
              </a:defRPr>
            </a:lvl9pPr>
          </a:lstStyle>
          <a:p xmlns:a="http://schemas.openxmlformats.org/drawingml/2006/main">
            <a:pPr algn="r" rtl="1">
              <a:defRPr sz="4575" b="1">
                <a:solidFill>
                  <a:srgbClr val="F5F4EF"/>
                </a:solidFill>
                <a:latin typeface="DejaVu Sans"/>
                <a:ea typeface="DejaVu Sans"/>
                <a:cs typeface="DejaVu Sans"/>
              </a:defRPr>
            </a:pPr>
            <a:r>
              <a:rPr sz="4575" b="1" lang="he-IL">
                <a:solidFill>
                  <a:srgbClr val="F5F4EF"/>
                </a:solidFill>
                <a:latin typeface="DejaVu Sans"/>
                <a:ea typeface="DejaVu Sans"/>
                <a:cs typeface="DejaVu Sans"/>
              </a:rPr>
              <a:t>מעבדה שנבנתה ונבדקה</a:t>
            </a:r>
          </a:p>
        </p:txBody>
      </p:sp>
      <p:sp>
        <p:nvSpPr>
          <p:cNvPr id="4" name="closing-body">
            <a:extLst xmlns:a="http://schemas.openxmlformats.org/drawingml/2006/main">
              <a:ext uri="{FF2B5EF4-FFF2-40B4-BE49-F238E27FC236}">
                <a16:creationId xmlns:a16="http://schemas.microsoft.com/office/drawing/2014/main" id="{E07E16AF-7DC2-44AF-BEB4-D35F84EBAF3A}"/>
              </a:ext>
            </a:extLst>
          </p:cNvPr>
          <p:cNvSpPr>
            <a:spLocks xmlns:a="http://schemas.openxmlformats.org/drawingml/2006/main" noGrp="1"/>
          </p:cNvSpPr>
          <p:nvPr/>
        </p:nvSpPr>
        <p:spPr>
          <a:xfrm xmlns:a="http://schemas.openxmlformats.org/drawingml/2006/main">
            <a:off x="6286500" y="4905375"/>
            <a:ext cx="8001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325" b="0">
                <a:solidFill>
                  <a:srgbClr val="CAD4DC"/>
                </a:solidFill>
                <a:latin typeface="DejaVu Sans"/>
                <a:ea typeface="DejaVu Sans"/>
                <a:cs typeface="DejaVu Sans"/>
              </a:defRPr>
            </a:defPPr>
            <a:lvl1pPr algn="r">
              <a:defRPr sz="2325" b="0">
                <a:solidFill>
                  <a:srgbClr val="CAD4DC"/>
                </a:solidFill>
                <a:latin typeface="DejaVu Sans"/>
                <a:ea typeface="DejaVu Sans"/>
                <a:cs typeface="DejaVu Sans"/>
              </a:defRPr>
            </a:lvl1pPr>
            <a:lvl2pPr algn="r">
              <a:defRPr sz="2325" b="0">
                <a:solidFill>
                  <a:srgbClr val="CAD4DC"/>
                </a:solidFill>
                <a:latin typeface="DejaVu Sans"/>
                <a:ea typeface="DejaVu Sans"/>
                <a:cs typeface="DejaVu Sans"/>
              </a:defRPr>
            </a:lvl2pPr>
            <a:lvl3pPr algn="r">
              <a:defRPr sz="2325" b="0">
                <a:solidFill>
                  <a:srgbClr val="CAD4DC"/>
                </a:solidFill>
                <a:latin typeface="DejaVu Sans"/>
                <a:ea typeface="DejaVu Sans"/>
                <a:cs typeface="DejaVu Sans"/>
              </a:defRPr>
            </a:lvl3pPr>
            <a:lvl4pPr algn="r">
              <a:defRPr sz="2325" b="0">
                <a:solidFill>
                  <a:srgbClr val="CAD4DC"/>
                </a:solidFill>
                <a:latin typeface="DejaVu Sans"/>
                <a:ea typeface="DejaVu Sans"/>
                <a:cs typeface="DejaVu Sans"/>
              </a:defRPr>
            </a:lvl4pPr>
            <a:lvl5pPr algn="r">
              <a:defRPr sz="2325" b="0">
                <a:solidFill>
                  <a:srgbClr val="CAD4DC"/>
                </a:solidFill>
                <a:latin typeface="DejaVu Sans"/>
                <a:ea typeface="DejaVu Sans"/>
                <a:cs typeface="DejaVu Sans"/>
              </a:defRPr>
            </a:lvl5pPr>
            <a:lvl6pPr algn="r">
              <a:defRPr sz="2325" b="0">
                <a:solidFill>
                  <a:srgbClr val="CAD4DC"/>
                </a:solidFill>
                <a:latin typeface="DejaVu Sans"/>
                <a:ea typeface="DejaVu Sans"/>
                <a:cs typeface="DejaVu Sans"/>
              </a:defRPr>
            </a:lvl6pPr>
            <a:lvl7pPr algn="r">
              <a:defRPr sz="2325" b="0">
                <a:solidFill>
                  <a:srgbClr val="CAD4DC"/>
                </a:solidFill>
                <a:latin typeface="DejaVu Sans"/>
                <a:ea typeface="DejaVu Sans"/>
                <a:cs typeface="DejaVu Sans"/>
              </a:defRPr>
            </a:lvl7pPr>
            <a:lvl8pPr algn="r">
              <a:defRPr sz="2325" b="0">
                <a:solidFill>
                  <a:srgbClr val="CAD4DC"/>
                </a:solidFill>
                <a:latin typeface="DejaVu Sans"/>
                <a:ea typeface="DejaVu Sans"/>
                <a:cs typeface="DejaVu Sans"/>
              </a:defRPr>
            </a:lvl8pPr>
            <a:lvl9pPr algn="r">
              <a:defRPr sz="2325" b="0">
                <a:solidFill>
                  <a:srgbClr val="CAD4DC"/>
                </a:solidFill>
                <a:latin typeface="DejaVu Sans"/>
                <a:ea typeface="DejaVu Sans"/>
                <a:cs typeface="DejaVu Sans"/>
              </a:defRPr>
            </a:lvl9pPr>
          </a:lstStyle>
          <a:p xmlns:a="http://schemas.openxmlformats.org/drawingml/2006/main">
            <a:pPr algn="r" rtl="1">
              <a:defRPr sz="2325" b="0">
                <a:solidFill>
                  <a:srgbClr val="CAD4DC"/>
                </a:solidFill>
                <a:latin typeface="DejaVu Sans"/>
                <a:ea typeface="DejaVu Sans"/>
                <a:cs typeface="DejaVu Sans"/>
              </a:defRPr>
            </a:pPr>
            <a:r>
              <a:rPr sz="2325" b="0" lang="he-IL">
                <a:solidFill>
                  <a:srgbClr val="CAD4DC"/>
                </a:solidFill>
                <a:latin typeface="DejaVu Sans"/>
                <a:ea typeface="DejaVu Sans"/>
                <a:cs typeface="DejaVu Sans"/>
              </a:rPr>
              <a:t>השלמתי את העבודה במסגרת הבדיקות המתועדות.</a:t>
            </a:r>
          </a:p>
          <a:p xmlns:a="http://schemas.openxmlformats.org/drawingml/2006/main">
            <a:r>
              <a:t/>
            </a:r>
          </a:p>
          <a:p xmlns:a="http://schemas.openxmlformats.org/drawingml/2006/main">
            <a:pPr algn="r" rtl="1">
              <a:defRPr sz="2325" b="0">
                <a:solidFill>
                  <a:srgbClr val="CAD4DC"/>
                </a:solidFill>
                <a:latin typeface="DejaVu Sans"/>
                <a:ea typeface="DejaVu Sans"/>
                <a:cs typeface="DejaVu Sans"/>
              </a:defRPr>
            </a:pPr>
            <a:r>
              <a:rPr sz="2325" b="0" lang="he-IL">
                <a:solidFill>
                  <a:srgbClr val="CAD4DC"/>
                </a:solidFill>
                <a:latin typeface="DejaVu Sans"/>
                <a:ea typeface="DejaVu Sans"/>
                <a:cs typeface="DejaVu Sans"/>
              </a:rPr>
              <a:t>השלב הבא: תרגיל שחזור מלא מהגיבוי.</a:t>
            </a:r>
          </a:p>
          <a:p xmlns:a="http://schemas.openxmlformats.org/drawingml/2006/main">
            <a:pPr algn="r" rtl="1">
              <a:defRPr sz="2325" b="0">
                <a:solidFill>
                  <a:srgbClr val="CAD4DC"/>
                </a:solidFill>
                <a:latin typeface="DejaVu Sans"/>
                <a:ea typeface="DejaVu Sans"/>
                <a:cs typeface="DejaVu Sans"/>
              </a:defRPr>
            </a:pPr>
            <a:r>
              <a:rPr sz="2325" b="0" lang="he-IL">
                <a:solidFill>
                  <a:srgbClr val="CAD4DC"/>
                </a:solidFill>
                <a:latin typeface="DejaVu Sans"/>
                <a:ea typeface="DejaVu Sans"/>
                <a:cs typeface="DejaVu Sans"/>
              </a:rPr>
              <a:t>הממצאים מתייחסים למעבדה ולבדיקות שבוצעו.</a:t>
            </a:r>
          </a:p>
        </p:txBody>
      </p:sp>
      <p:sp>
        <p:nvSpPr>
          <p:cNvPr id="5" name="folio">
            <a:extLst xmlns:a="http://schemas.openxmlformats.org/drawingml/2006/main">
              <a:ext uri="{FF2B5EF4-FFF2-40B4-BE49-F238E27FC236}">
                <a16:creationId xmlns:a16="http://schemas.microsoft.com/office/drawing/2014/main" id="{80A54119-EFBA-4645-B2AD-958E77D27BF5}"/>
              </a:ext>
            </a:extLst>
          </p:cNvPr>
          <p:cNvSpPr>
            <a:spLocks xmlns:a="http://schemas.openxmlformats.org/drawingml/2006/main" noGrp="1"/>
          </p:cNvSpPr>
          <p:nvPr/>
        </p:nvSpPr>
        <p:spPr>
          <a:xfrm xmlns:a="http://schemas.openxmlformats.org/drawingml/2006/main">
            <a:off x="685800" y="81057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81929E"/>
                </a:solidFill>
                <a:latin typeface="DejaVu Sans"/>
                <a:ea typeface="DejaVu Sans"/>
                <a:cs typeface="DejaVu Sans"/>
              </a:defRPr>
            </a:defPPr>
            <a:lvl1pPr algn="l">
              <a:defRPr sz="1350" b="0">
                <a:solidFill>
                  <a:srgbClr val="81929E"/>
                </a:solidFill>
                <a:latin typeface="DejaVu Sans"/>
                <a:ea typeface="DejaVu Sans"/>
                <a:cs typeface="DejaVu Sans"/>
              </a:defRPr>
            </a:lvl1pPr>
            <a:lvl2pPr algn="l">
              <a:defRPr sz="1350" b="0">
                <a:solidFill>
                  <a:srgbClr val="81929E"/>
                </a:solidFill>
                <a:latin typeface="DejaVu Sans"/>
                <a:ea typeface="DejaVu Sans"/>
                <a:cs typeface="DejaVu Sans"/>
              </a:defRPr>
            </a:lvl2pPr>
            <a:lvl3pPr algn="l">
              <a:defRPr sz="1350" b="0">
                <a:solidFill>
                  <a:srgbClr val="81929E"/>
                </a:solidFill>
                <a:latin typeface="DejaVu Sans"/>
                <a:ea typeface="DejaVu Sans"/>
                <a:cs typeface="DejaVu Sans"/>
              </a:defRPr>
            </a:lvl3pPr>
            <a:lvl4pPr algn="l">
              <a:defRPr sz="1350" b="0">
                <a:solidFill>
                  <a:srgbClr val="81929E"/>
                </a:solidFill>
                <a:latin typeface="DejaVu Sans"/>
                <a:ea typeface="DejaVu Sans"/>
                <a:cs typeface="DejaVu Sans"/>
              </a:defRPr>
            </a:lvl4pPr>
            <a:lvl5pPr algn="l">
              <a:defRPr sz="1350" b="0">
                <a:solidFill>
                  <a:srgbClr val="81929E"/>
                </a:solidFill>
                <a:latin typeface="DejaVu Sans"/>
                <a:ea typeface="DejaVu Sans"/>
                <a:cs typeface="DejaVu Sans"/>
              </a:defRPr>
            </a:lvl5pPr>
            <a:lvl6pPr algn="l">
              <a:defRPr sz="1350" b="0">
                <a:solidFill>
                  <a:srgbClr val="81929E"/>
                </a:solidFill>
                <a:latin typeface="DejaVu Sans"/>
                <a:ea typeface="DejaVu Sans"/>
                <a:cs typeface="DejaVu Sans"/>
              </a:defRPr>
            </a:lvl6pPr>
            <a:lvl7pPr algn="l">
              <a:defRPr sz="1350" b="0">
                <a:solidFill>
                  <a:srgbClr val="81929E"/>
                </a:solidFill>
                <a:latin typeface="DejaVu Sans"/>
                <a:ea typeface="DejaVu Sans"/>
                <a:cs typeface="DejaVu Sans"/>
              </a:defRPr>
            </a:lvl7pPr>
            <a:lvl8pPr algn="l">
              <a:defRPr sz="1350" b="0">
                <a:solidFill>
                  <a:srgbClr val="81929E"/>
                </a:solidFill>
                <a:latin typeface="DejaVu Sans"/>
                <a:ea typeface="DejaVu Sans"/>
                <a:cs typeface="DejaVu Sans"/>
              </a:defRPr>
            </a:lvl8pPr>
            <a:lvl9pPr algn="l">
              <a:defRPr sz="1350" b="0">
                <a:solidFill>
                  <a:srgbClr val="81929E"/>
                </a:solidFill>
                <a:latin typeface="DejaVu Sans"/>
                <a:ea typeface="DejaVu Sans"/>
                <a:cs typeface="DejaVu Sans"/>
              </a:defRPr>
            </a:lvl9pPr>
          </a:lstStyle>
          <a:p xmlns:a="http://schemas.openxmlformats.org/drawingml/2006/main">
            <a:pPr algn="l">
              <a:defRPr sz="1350" b="0">
                <a:solidFill>
                  <a:srgbClr val="81929E"/>
                </a:solidFill>
                <a:latin typeface="DejaVu Sans"/>
                <a:ea typeface="DejaVu Sans"/>
                <a:cs typeface="DejaVu Sans"/>
              </a:defRPr>
            </a:pPr>
            <a:r>
              <a:rPr sz="1350" b="0">
                <a:solidFill>
                  <a:srgbClr val="81929E"/>
                </a:solidFill>
                <a:latin typeface="DejaVu Sans"/>
                <a:ea typeface="DejaVu Sans"/>
                <a:cs typeface="DejaVu Sans"/>
              </a:rPr>
              <a:t>30 / 30</a:t>
            </a:r>
          </a:p>
        </p:txBody>
      </p:sp>
      <p:sp>
        <p:nvSpPr>
          <p:cNvPr id="6" name="footer">
            <a:extLst xmlns:a="http://schemas.openxmlformats.org/drawingml/2006/main">
              <a:ext uri="{FF2B5EF4-FFF2-40B4-BE49-F238E27FC236}">
                <a16:creationId xmlns:a16="http://schemas.microsoft.com/office/drawing/2014/main" id="{A7198291-ABFE-4719-AF04-021BAB76301D}"/>
              </a:ext>
            </a:extLst>
          </p:cNvPr>
          <p:cNvSpPr>
            <a:spLocks xmlns:a="http://schemas.openxmlformats.org/drawingml/2006/main" noGrp="1"/>
          </p:cNvSpPr>
          <p:nvPr/>
        </p:nvSpPr>
        <p:spPr>
          <a:xfrm xmlns:a="http://schemas.openxmlformats.org/drawingml/2006/main">
            <a:off x="8096250" y="8105775"/>
            <a:ext cx="645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81929E"/>
                </a:solidFill>
                <a:latin typeface="DejaVu Sans"/>
                <a:ea typeface="DejaVu Sans"/>
                <a:cs typeface="DejaVu Sans"/>
              </a:defRPr>
            </a:defPPr>
            <a:lvl1pPr algn="r">
              <a:defRPr sz="1350" b="0">
                <a:solidFill>
                  <a:srgbClr val="81929E"/>
                </a:solidFill>
                <a:latin typeface="DejaVu Sans"/>
                <a:ea typeface="DejaVu Sans"/>
                <a:cs typeface="DejaVu Sans"/>
              </a:defRPr>
            </a:lvl1pPr>
            <a:lvl2pPr algn="r">
              <a:defRPr sz="1350" b="0">
                <a:solidFill>
                  <a:srgbClr val="81929E"/>
                </a:solidFill>
                <a:latin typeface="DejaVu Sans"/>
                <a:ea typeface="DejaVu Sans"/>
                <a:cs typeface="DejaVu Sans"/>
              </a:defRPr>
            </a:lvl2pPr>
            <a:lvl3pPr algn="r">
              <a:defRPr sz="1350" b="0">
                <a:solidFill>
                  <a:srgbClr val="81929E"/>
                </a:solidFill>
                <a:latin typeface="DejaVu Sans"/>
                <a:ea typeface="DejaVu Sans"/>
                <a:cs typeface="DejaVu Sans"/>
              </a:defRPr>
            </a:lvl3pPr>
            <a:lvl4pPr algn="r">
              <a:defRPr sz="1350" b="0">
                <a:solidFill>
                  <a:srgbClr val="81929E"/>
                </a:solidFill>
                <a:latin typeface="DejaVu Sans"/>
                <a:ea typeface="DejaVu Sans"/>
                <a:cs typeface="DejaVu Sans"/>
              </a:defRPr>
            </a:lvl4pPr>
            <a:lvl5pPr algn="r">
              <a:defRPr sz="1350" b="0">
                <a:solidFill>
                  <a:srgbClr val="81929E"/>
                </a:solidFill>
                <a:latin typeface="DejaVu Sans"/>
                <a:ea typeface="DejaVu Sans"/>
                <a:cs typeface="DejaVu Sans"/>
              </a:defRPr>
            </a:lvl5pPr>
            <a:lvl6pPr algn="r">
              <a:defRPr sz="1350" b="0">
                <a:solidFill>
                  <a:srgbClr val="81929E"/>
                </a:solidFill>
                <a:latin typeface="DejaVu Sans"/>
                <a:ea typeface="DejaVu Sans"/>
                <a:cs typeface="DejaVu Sans"/>
              </a:defRPr>
            </a:lvl6pPr>
            <a:lvl7pPr algn="r">
              <a:defRPr sz="1350" b="0">
                <a:solidFill>
                  <a:srgbClr val="81929E"/>
                </a:solidFill>
                <a:latin typeface="DejaVu Sans"/>
                <a:ea typeface="DejaVu Sans"/>
                <a:cs typeface="DejaVu Sans"/>
              </a:defRPr>
            </a:lvl7pPr>
            <a:lvl8pPr algn="r">
              <a:defRPr sz="1350" b="0">
                <a:solidFill>
                  <a:srgbClr val="81929E"/>
                </a:solidFill>
                <a:latin typeface="DejaVu Sans"/>
                <a:ea typeface="DejaVu Sans"/>
                <a:cs typeface="DejaVu Sans"/>
              </a:defRPr>
            </a:lvl8pPr>
            <a:lvl9pPr algn="r">
              <a:defRPr sz="1350" b="0">
                <a:solidFill>
                  <a:srgbClr val="81929E"/>
                </a:solidFill>
                <a:latin typeface="DejaVu Sans"/>
                <a:ea typeface="DejaVu Sans"/>
                <a:cs typeface="DejaVu Sans"/>
              </a:defRPr>
            </a:lvl9pPr>
          </a:lstStyle>
          <a:p xmlns:a="http://schemas.openxmlformats.org/drawingml/2006/main">
            <a:pPr algn="r" rtl="1">
              <a:defRPr sz="1350" b="0">
                <a:solidFill>
                  <a:srgbClr val="81929E"/>
                </a:solidFill>
                <a:latin typeface="DejaVu Sans"/>
                <a:ea typeface="DejaVu Sans"/>
                <a:cs typeface="DejaVu Sans"/>
              </a:defRPr>
            </a:pPr>
            <a:r>
              <a:rPr sz="1350" b="0" lang="he-IL">
                <a:solidFill>
                  <a:srgbClr val="81929E"/>
                </a:solidFill>
                <a:latin typeface="DejaVu Sans"/>
                <a:ea typeface="DejaVu Sans"/>
                <a:cs typeface="DejaVu Sans"/>
              </a:rPr>
              <a:t>PT WEB LAB   /   איתי בכור   /   אוקטובר 2026</a:t>
            </a:r>
          </a:p>
        </p:txBody>
      </p:sp>
    </p:spTree>
    <p:extLst>
      <p:ext uri="{BB962C8B-B14F-4D97-AF65-F5344CB8AC3E}">
        <p14:creationId xmlns:p14="http://schemas.microsoft.com/office/powerpoint/2010/main" val="1752431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2026-10-24T09:11:23.6060000Z</dcterms:created>
  <dcterms:modified xsi:type="dcterms:W3CDTF">2026-10-24T09:11:23.6060000Z</dcterms:modified>
</coreProperties>
</file>